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2" r:id="rId2"/>
    <p:sldId id="286" r:id="rId3"/>
    <p:sldId id="287" r:id="rId4"/>
    <p:sldId id="285" r:id="rId5"/>
    <p:sldId id="289" r:id="rId6"/>
    <p:sldId id="301" r:id="rId7"/>
    <p:sldId id="263" r:id="rId8"/>
    <p:sldId id="264" r:id="rId9"/>
    <p:sldId id="302" r:id="rId10"/>
    <p:sldId id="304" r:id="rId11"/>
    <p:sldId id="306" r:id="rId12"/>
    <p:sldId id="307" r:id="rId13"/>
    <p:sldId id="328" r:id="rId14"/>
    <p:sldId id="2147483375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368C0203-6164-43E6-B636-22E2B82D408E}">
          <p14:sldIdLst>
            <p14:sldId id="262"/>
            <p14:sldId id="286"/>
            <p14:sldId id="287"/>
            <p14:sldId id="285"/>
            <p14:sldId id="289"/>
            <p14:sldId id="301"/>
            <p14:sldId id="263"/>
            <p14:sldId id="264"/>
            <p14:sldId id="302"/>
            <p14:sldId id="304"/>
            <p14:sldId id="306"/>
            <p14:sldId id="307"/>
            <p14:sldId id="328"/>
            <p14:sldId id="21474833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B48DC7-8EDD-E5A3-75C5-5B19801941BE}" name="Caldato, Jessica" initials="JC" userId="S::Jessica.Caldato@unilever.com::f0f0f51e-68cd-4877-81f7-b981e3bf3ab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D13695-BF6F-494A-B4A6-84CE351ECD5B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A1CE45-832F-4EA5-883E-F0093EA948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6308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80566-F1FF-1749-4193-CB367E786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C12B48-4965-2AAE-EC0B-FB5CE62FC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ADFBF0-B11B-92A0-DD5B-9974545A9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04BE3-F4E2-A998-F420-6B35BEB64E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7146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5772B-D39A-67A0-0B55-4CE102087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CEF2A0-7A5C-727F-962A-3C7C9466EF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074FC-14AE-3220-5AA9-2CB1AC161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7B226-7D50-F1B3-AC1E-D75343C4FA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8882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4C832-71DE-2636-4D51-409D6FBA6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3C4EB6-B229-BDE7-76AF-7FBD7C1A7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C388FD-8631-6E38-5E8F-1BD66D45D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665DC-8E06-D1CD-E553-79268750F3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6581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CD7FD-911D-4066-BF22-CC7406C8B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49B94C-63F2-7EA2-0114-77404969E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CB50F3-D0FE-F1E9-1AFE-725BFF8DC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CBE69-277C-54F2-9232-F6812FB4AE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0352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6D692-1E64-2EAE-58F8-4A90DF7DC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267ED3-AD9A-2CFE-79BC-858DEE09F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7507A-8A36-4BD7-0CAC-4776D0BEC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7F67E-C009-AAAA-5617-A90990434D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1290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12D7A-21D2-AEB3-5719-7737F0641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97DA9-5921-B3EE-F4A6-A206ECE2C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549EB8-52B6-A6D0-7808-20F17F324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03BF5-727E-7470-7D1B-08E0F63A24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837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43257-64A8-E932-A3FD-70CFB2B92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9CC0C9-6B84-690E-1D4A-2DC0DAF62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F50519-16CC-18F6-C3E8-39DD5A0A9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F8FD5-FBAC-7797-BEB6-DD7F97F5B7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8506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5A3FE-7789-07B9-E053-55FD8DCB9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C9F7C-F5EC-4284-CACC-1385AD361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09667B-510E-76F2-AD42-E9C2059AB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0002E-D84D-E7AF-7D43-20CA5A1A80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8633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BF023-3FB8-F30A-377E-B86CE4363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01D84-F4BA-D1C2-7D16-EC3125409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9E3E9D-D0CA-6FCA-1D01-B7E3030F5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Impacto – </a:t>
            </a:r>
            <a:r>
              <a:rPr lang="en-US" dirty="0" err="1"/>
              <a:t>Diferenciação</a:t>
            </a:r>
            <a:endParaRPr lang="en-US" dirty="0"/>
          </a:p>
          <a:p>
            <a:r>
              <a:rPr lang="en-US" dirty="0" err="1"/>
              <a:t>Solução</a:t>
            </a:r>
            <a:r>
              <a:rPr lang="en-US" dirty="0"/>
              <a:t> – </a:t>
            </a:r>
            <a:r>
              <a:rPr lang="en-US" dirty="0" err="1"/>
              <a:t>em</a:t>
            </a:r>
            <a:r>
              <a:rPr lang="en-US" dirty="0"/>
              <a:t> tempo real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12681-F189-6BDA-B22B-71C1190860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991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57EFE-1BA7-65D7-13BB-485F3AD54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1D9BC6-5FA1-28A1-FB51-8A4F2D5748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E1AD16-F0E8-44C7-BAC1-9AD1BBFF3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A409-B534-4E2E-B1FA-CA552BFE9685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400603-AE78-E0B3-E0E5-0446A83D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77A5B1-2AFC-5BE2-484B-A3760DB6C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673F3-DCE3-41EE-9A39-A7AA43BC1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583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C8BFA7-4C38-0B28-B488-2CA7C08E3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52EDD8-0538-7AD7-DAED-B033D0A86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85179B-2B9D-5D71-AD5C-DC494DF53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A409-B534-4E2E-B1FA-CA552BFE9685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0A56D8-D403-325A-FAAD-6318B0CB1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D325C4-B817-B2CC-C39F-04C09D16E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673F3-DCE3-41EE-9A39-A7AA43BC1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6103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E1BF2-B8EF-1281-7543-23FD71398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311D0F-80A3-2EBE-DF95-7D7AE73A9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EE7764-DC3D-A62E-3A53-C227B56CA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A409-B534-4E2E-B1FA-CA552BFE9685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8DC146-B481-F292-4A14-2F11D3FA8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458CF6-718F-A5FE-21E2-490C68D63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673F3-DCE3-41EE-9A39-A7AA43BC1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2695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01BFE2-9E7A-A2FD-3DB5-5020982D6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9B1469-F4C7-E8DC-4B77-9BF35EE70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5447836-663D-56A5-87D3-4D4FFE3457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EA848A-AE2D-F8C3-AB2E-92A901E7D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A409-B534-4E2E-B1FA-CA552BFE9685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9D40D01-DFE8-07C8-8953-D3BB4266E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6B07ECC-9E4C-A43D-CF67-E9198BC4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673F3-DCE3-41EE-9A39-A7AA43BC1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0244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E8F297-5E02-1BD9-0D83-26EB4D5ED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EDAD7A-8FD5-A424-C94E-E671BD84A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52385C-EE8B-F9D7-F9BF-E6CD0F9CB0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C87C7B6-A0EA-5677-33E0-39751EB245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5A5C0BE-649B-403C-0FCC-57E59E7142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CB9D927-1DF4-8D05-AD53-794A88E38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A409-B534-4E2E-B1FA-CA552BFE9685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85B7F35-BEE1-80FD-F341-B75A7501D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3FCB060-BB3B-13C8-8864-B81840D6E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673F3-DCE3-41EE-9A39-A7AA43BC1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458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802F95-745F-44A8-35C6-6C65DA2A7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CD8E00C-765A-BDB2-0C71-5783D6EDD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A409-B534-4E2E-B1FA-CA552BFE9685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B580801-8D8D-203A-6F96-A3BAABD53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6AE8306-04B4-8112-6175-144849D84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673F3-DCE3-41EE-9A39-A7AA43BC1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2462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F5DA255-C630-B459-8A08-787A6A800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A409-B534-4E2E-B1FA-CA552BFE9685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8F4A383-82E2-EA28-1E20-813EFEAD5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6E3BE69-B354-211F-1725-7F925A1D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673F3-DCE3-41EE-9A39-A7AA43BC1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2886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4513A-266B-80F3-B8BF-7E80D8F02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D7DF78-135D-8091-B0D0-0DB63EA6D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A95C1E-A8C8-8B75-C075-3B24D1C13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F769C19-7031-2C64-2C38-8655CB0EA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A409-B534-4E2E-B1FA-CA552BFE9685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D74AAF-A025-5C7E-F35B-ED4A6AA57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372589-1C88-E074-CBA3-1B9911131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673F3-DCE3-41EE-9A39-A7AA43BC1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8352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67CD3-8793-ACA6-C529-6933170F3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BFE0EE-BE50-F81A-F4E7-7323D18F04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D00D71C-4516-6DD9-59FE-CB4E2D0CB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944DF31-FAEA-E14C-A928-CF7316F39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A409-B534-4E2E-B1FA-CA552BFE9685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41A878-1FF3-6BFC-CC65-D6A36935D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A18CD9B-F6A8-0B66-9CBD-65D8A8106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673F3-DCE3-41EE-9A39-A7AA43BC1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3371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5F2F17-EF30-81C0-A002-F6BF8CABE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0EBC018-B76A-8E2B-2904-AB10E996E1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AA983F-A0B9-2B3A-09A4-3E7D7A5A0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A409-B534-4E2E-B1FA-CA552BFE9685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FC667C-AC55-A8D6-4763-61DA10D2F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EC9A1C-8246-ADD0-E58A-81B3577C3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673F3-DCE3-41EE-9A39-A7AA43BC1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6491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824496B-DC05-6025-C565-0BC3C1FBCF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83ACBD0-0698-AA6A-44D8-39E6DEF550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C47B6F-4EBF-4CAE-E5AB-AE99BBCED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A409-B534-4E2E-B1FA-CA552BFE9685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59D1B2-A6C1-3B6C-C6E7-42E86AECE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0A49CB-C752-2D92-C9AA-A8C1AB20F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673F3-DCE3-41EE-9A39-A7AA43BC1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9670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714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A71AB18-9610-AFA1-FDA3-F4DE09A7B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8B2ABFD-5652-42BA-51AF-EE63D2EB7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C4026C-5B11-1E75-42EC-90C2C85170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F5A409-B534-4E2E-B1FA-CA552BFE9685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69D4FB-80AD-815C-9CF2-672CBB0EF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9295AA-5BDA-D1D0-B326-A42C8F9146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5673F3-DCE3-41EE-9A39-A7AA43BC1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6855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6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 1  | CONSUMER </a:t>
            </a:r>
            <a:endParaRPr lang="pt-BR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85344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3733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Anvisa Monitor</a:t>
            </a:r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733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Marianna Della Mea |  5 minutos</a:t>
            </a:r>
          </a:p>
        </p:txBody>
      </p:sp>
      <p:sp>
        <p:nvSpPr>
          <p:cNvPr id="5" name="Shape 3"/>
          <p:cNvSpPr/>
          <p:nvPr/>
        </p:nvSpPr>
        <p:spPr>
          <a:xfrm>
            <a:off x="731520" y="2438400"/>
            <a:ext cx="5303520" cy="3739643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6" name="Text 4"/>
          <p:cNvSpPr/>
          <p:nvPr/>
        </p:nvSpPr>
        <p:spPr>
          <a:xfrm>
            <a:off x="975360" y="2621280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DESAFIO</a:t>
            </a:r>
            <a:endParaRPr lang="pt-BR" sz="1867"/>
          </a:p>
        </p:txBody>
      </p:sp>
      <p:sp>
        <p:nvSpPr>
          <p:cNvPr id="7" name="Text 5"/>
          <p:cNvSpPr/>
          <p:nvPr/>
        </p:nvSpPr>
        <p:spPr>
          <a:xfrm>
            <a:off x="975360" y="3169920"/>
            <a:ext cx="4815840" cy="2271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monitoramento de registros de cosméticos na ANVISA é manual, fragmentado e reativo, limitando a capacidade de identificar movimentos de inovação da concorrência com antecedência e consumindo tempo relevante do time regulatório de R&amp;D.</a:t>
            </a:r>
          </a:p>
        </p:txBody>
      </p:sp>
      <p:sp>
        <p:nvSpPr>
          <p:cNvPr id="8" name="Shape 6"/>
          <p:cNvSpPr/>
          <p:nvPr/>
        </p:nvSpPr>
        <p:spPr>
          <a:xfrm>
            <a:off x="6400800" y="2438400"/>
            <a:ext cx="5303520" cy="1778381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9" name="Text 7"/>
          <p:cNvSpPr/>
          <p:nvPr/>
        </p:nvSpPr>
        <p:spPr>
          <a:xfrm>
            <a:off x="6644640" y="2621280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SOLUÇÃO &amp; TOOL</a:t>
            </a:r>
            <a:endParaRPr lang="pt-BR" sz="1867"/>
          </a:p>
        </p:txBody>
      </p:sp>
      <p:sp>
        <p:nvSpPr>
          <p:cNvPr id="10" name="Text 8"/>
          <p:cNvSpPr/>
          <p:nvPr/>
        </p:nvSpPr>
        <p:spPr>
          <a:xfrm>
            <a:off x="6644640" y="3169921"/>
            <a:ext cx="4815840" cy="90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Automatizamos o monitoramento dos registros da ANVISA usando </a:t>
            </a:r>
            <a:r>
              <a:rPr lang="pt-BR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 estruturamos os dados com </a:t>
            </a:r>
            <a:r>
              <a:rPr lang="pt-BR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transformando aprovações regulatórias em sinais precoces de inovação e movimentos da concorrência.</a:t>
            </a: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E2D156C6-E8C9-ACE7-0B80-C7398E328DBD}"/>
              </a:ext>
            </a:extLst>
          </p:cNvPr>
          <p:cNvSpPr/>
          <p:nvPr/>
        </p:nvSpPr>
        <p:spPr>
          <a:xfrm>
            <a:off x="6400800" y="4399662"/>
            <a:ext cx="5303520" cy="1778381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A44E3BBA-170E-4382-6901-49555B387CD7}"/>
              </a:ext>
            </a:extLst>
          </p:cNvPr>
          <p:cNvSpPr/>
          <p:nvPr/>
        </p:nvSpPr>
        <p:spPr>
          <a:xfrm>
            <a:off x="6644640" y="4582541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IMPACTO | 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Realization</a:t>
            </a:r>
            <a:endParaRPr lang="pt-BR" sz="1867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E32D289-860B-1667-75FB-3E4447CE1EB0}"/>
              </a:ext>
            </a:extLst>
          </p:cNvPr>
          <p:cNvSpPr/>
          <p:nvPr/>
        </p:nvSpPr>
        <p:spPr>
          <a:xfrm>
            <a:off x="6644640" y="5131182"/>
            <a:ext cx="4815840" cy="90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600" b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Antecipação estratégica: 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 meses de vantagem para orientar portfólio, </a:t>
            </a:r>
            <a:r>
              <a:rPr lang="pt-BR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priorização de inovação.</a:t>
            </a:r>
          </a:p>
          <a:p>
            <a:r>
              <a:rPr lang="pt-BR" sz="1600" b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operacional: 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 horas/mês liberadas do time de </a:t>
            </a:r>
            <a:r>
              <a:rPr lang="pt-BR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P&amp;D ao eliminar buscas manuais</a:t>
            </a:r>
            <a:endParaRPr lang="pt-BR" sz="160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4FE530EE-63C2-5A03-AA29-BD4597CC1A0D}"/>
              </a:ext>
            </a:extLst>
          </p:cNvPr>
          <p:cNvSpPr/>
          <p:nvPr/>
        </p:nvSpPr>
        <p:spPr>
          <a:xfrm>
            <a:off x="975360" y="5569215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Stakeholder </a:t>
            </a:r>
          </a:p>
          <a:p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Assuntos Regulatórios / R&amp;D (</a:t>
            </a:r>
            <a:r>
              <a:rPr lang="pt-BR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Thais H) </a:t>
            </a: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2A75D679-5F72-36F5-E08B-CC3758092546}"/>
              </a:ext>
            </a:extLst>
          </p:cNvPr>
          <p:cNvSpPr/>
          <p:nvPr/>
        </p:nvSpPr>
        <p:spPr>
          <a:xfrm>
            <a:off x="2823411" y="6305463"/>
            <a:ext cx="715477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Time-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pt-BR" sz="1867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38D04-0B22-044A-50D1-0C84A4D40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66D8BE9-332E-9AE0-16EC-CC0A2BF2661F}"/>
              </a:ext>
            </a:extLst>
          </p:cNvPr>
          <p:cNvSpPr/>
          <p:nvPr/>
        </p:nvSpPr>
        <p:spPr>
          <a:xfrm>
            <a:off x="731520" y="36576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pt-BR" sz="16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 2  | CONSUMER</a:t>
            </a:r>
            <a:endParaRPr lang="pt-BR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6AFB9E8-04D5-0855-9CFF-E8A5B2A69CD7}"/>
              </a:ext>
            </a:extLst>
          </p:cNvPr>
          <p:cNvSpPr/>
          <p:nvPr/>
        </p:nvSpPr>
        <p:spPr>
          <a:xfrm>
            <a:off x="731520" y="85344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pt-BR" sz="3733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Nielsen IQ </a:t>
            </a:r>
            <a:r>
              <a:rPr lang="pt-BR" sz="3733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</a:t>
            </a:r>
            <a:r>
              <a:rPr lang="pt-BR" sz="3733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9FDFC22-FE4A-9665-4FCC-CE66BAFE187B}"/>
              </a:ext>
            </a:extLst>
          </p:cNvPr>
          <p:cNvSpPr/>
          <p:nvPr/>
        </p:nvSpPr>
        <p:spPr>
          <a:xfrm>
            <a:off x="731520" y="164592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it-IT" sz="1733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Alexandre Soares |  5 minutos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265F027-0391-3BA6-2A7B-AE626E40214B}"/>
              </a:ext>
            </a:extLst>
          </p:cNvPr>
          <p:cNvSpPr/>
          <p:nvPr/>
        </p:nvSpPr>
        <p:spPr>
          <a:xfrm>
            <a:off x="731520" y="2438400"/>
            <a:ext cx="5303520" cy="3739643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pPr defTabSz="1219170">
              <a:defRPr/>
            </a:pPr>
            <a:endParaRPr lang="pt-B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311176D-2065-3272-40B7-E059922217B1}"/>
              </a:ext>
            </a:extLst>
          </p:cNvPr>
          <p:cNvSpPr/>
          <p:nvPr/>
        </p:nvSpPr>
        <p:spPr>
          <a:xfrm>
            <a:off x="975360" y="2621280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DESAFIO</a:t>
            </a:r>
            <a:endParaRPr lang="pt-BR" sz="1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D819651-1792-B024-D1FB-F965FF5D59DC}"/>
              </a:ext>
            </a:extLst>
          </p:cNvPr>
          <p:cNvSpPr/>
          <p:nvPr/>
        </p:nvSpPr>
        <p:spPr>
          <a:xfrm>
            <a:off x="975360" y="3169920"/>
            <a:ext cx="4815840" cy="2271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geração de insights de </a:t>
            </a:r>
            <a:r>
              <a:rPr lang="pt-BR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(Nielsen/NIQ) é manual, demorada e dependente de cálculos complexos, consumindo até 5 dias por mês por analista. Isso limita escala, atrasa decisões e mantém talentos seniores presos em tarefas operacionais (data </a:t>
            </a:r>
            <a:r>
              <a:rPr lang="pt-BR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wrangling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vez de recomendação estratégica).</a:t>
            </a:r>
            <a:endParaRPr lang="pt-BR" sz="1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1395A09-1F15-6B68-F471-EF7DBD2577D2}"/>
              </a:ext>
            </a:extLst>
          </p:cNvPr>
          <p:cNvSpPr/>
          <p:nvPr/>
        </p:nvSpPr>
        <p:spPr>
          <a:xfrm>
            <a:off x="6400800" y="2438400"/>
            <a:ext cx="5303520" cy="1778381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pPr defTabSz="1219170">
              <a:defRPr/>
            </a:pPr>
            <a:endParaRPr lang="pt-B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1E11665-238B-192C-1FB0-5A637042BB25}"/>
              </a:ext>
            </a:extLst>
          </p:cNvPr>
          <p:cNvSpPr/>
          <p:nvPr/>
        </p:nvSpPr>
        <p:spPr>
          <a:xfrm>
            <a:off x="6644640" y="2621280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SOLUÇÃO &amp; TOOL</a:t>
            </a:r>
            <a:endParaRPr lang="pt-BR" sz="1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DFC8E1A-1EDB-46F1-C139-F9BC09797D41}"/>
              </a:ext>
            </a:extLst>
          </p:cNvPr>
          <p:cNvSpPr/>
          <p:nvPr/>
        </p:nvSpPr>
        <p:spPr>
          <a:xfrm>
            <a:off x="6644640" y="3169921"/>
            <a:ext cx="4815840" cy="90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defRPr/>
            </a:pPr>
            <a:r>
              <a:rPr lang="pt-BR" sz="12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Implementamos um agente de IA (</a:t>
            </a:r>
            <a:r>
              <a:rPr lang="pt-BR" sz="12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pt-BR" sz="12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que automatiza a análise de dados Nielsen ponta a ponta a partir de um simples comando (</a:t>
            </a:r>
            <a:r>
              <a:rPr lang="pt-BR" sz="12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r>
              <a:rPr lang="pt-BR" sz="12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“full </a:t>
            </a:r>
            <a:r>
              <a:rPr lang="pt-BR" sz="12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r>
              <a:rPr lang="pt-BR" sz="12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2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</a:t>
            </a:r>
            <a:r>
              <a:rPr lang="pt-BR" sz="12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Seda”):Processa 12 meses de histórico (Brasil + canais)Converte dados em uma narrativa clara (ganho/perda, onde e por quê)Decompõe drivers (</a:t>
            </a:r>
            <a:r>
              <a:rPr lang="pt-BR" sz="12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</a:t>
            </a:r>
            <a:r>
              <a:rPr lang="pt-BR" sz="12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vs. non-</a:t>
            </a:r>
            <a:r>
              <a:rPr lang="pt-BR" sz="12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</a:t>
            </a:r>
            <a:r>
              <a:rPr lang="pt-BR" sz="12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preço, mix, distribuição, </a:t>
            </a:r>
            <a:r>
              <a:rPr lang="pt-BR" sz="12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delist</a:t>
            </a:r>
            <a:r>
              <a:rPr lang="pt-BR" sz="12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etc.)Aplica regras de negócio embarcadas, garantindo consistência metodológica</a:t>
            </a: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FA00CC65-DB09-A6FC-D1C4-6358CA75BB54}"/>
              </a:ext>
            </a:extLst>
          </p:cNvPr>
          <p:cNvSpPr/>
          <p:nvPr/>
        </p:nvSpPr>
        <p:spPr>
          <a:xfrm>
            <a:off x="6400800" y="4399662"/>
            <a:ext cx="5303520" cy="1778381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pPr defTabSz="1219170">
              <a:defRPr/>
            </a:pPr>
            <a:endParaRPr lang="pt-B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1D5105B3-3010-5C8C-0EBD-C84971E8E26F}"/>
              </a:ext>
            </a:extLst>
          </p:cNvPr>
          <p:cNvSpPr/>
          <p:nvPr/>
        </p:nvSpPr>
        <p:spPr>
          <a:xfrm>
            <a:off x="6644640" y="4582541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IMPACTO | 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Realization</a:t>
            </a:r>
            <a:endParaRPr lang="pt-BR" sz="1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EDFBB425-34E0-4782-DCC5-796A8EF4B8E3}"/>
              </a:ext>
            </a:extLst>
          </p:cNvPr>
          <p:cNvSpPr/>
          <p:nvPr/>
        </p:nvSpPr>
        <p:spPr>
          <a:xfrm>
            <a:off x="6644640" y="5131182"/>
            <a:ext cx="4815840" cy="90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pt-BR" sz="1200" b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</a:t>
            </a:r>
            <a:r>
              <a:rPr lang="pt-BR" sz="12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~80–85% redução de tempo (de 1 semana → ~1 dia)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pt-BR" sz="1200" b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decisão</a:t>
            </a:r>
            <a:r>
              <a:rPr lang="pt-BR" sz="12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foco em “por quê” (não só “o quê”), com menor risco metodológico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pt-BR" sz="1200" b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e padronização</a:t>
            </a:r>
            <a:r>
              <a:rPr lang="pt-BR" sz="12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framework reutilizável entre marcas e categorias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pt-BR" sz="1200" b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operacional</a:t>
            </a:r>
            <a:r>
              <a:rPr lang="pt-BR" sz="12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16–20 horas/mês liberadas por analista</a:t>
            </a:r>
            <a:endParaRPr lang="pt-BR" sz="120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1A159649-FC59-4539-C407-265760291613}"/>
              </a:ext>
            </a:extLst>
          </p:cNvPr>
          <p:cNvSpPr/>
          <p:nvPr/>
        </p:nvSpPr>
        <p:spPr>
          <a:xfrm>
            <a:off x="975360" y="5569215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Stakeholder </a:t>
            </a:r>
          </a:p>
          <a:p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CMI (Juliana Bastos </a:t>
            </a:r>
            <a:r>
              <a:rPr lang="pt-BR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Stephanie </a:t>
            </a:r>
            <a:r>
              <a:rPr lang="pt-BR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Decaillet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pt-BR" sz="2133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77D2A316-7FE6-CC01-6204-51BEF2867189}"/>
              </a:ext>
            </a:extLst>
          </p:cNvPr>
          <p:cNvSpPr/>
          <p:nvPr/>
        </p:nvSpPr>
        <p:spPr>
          <a:xfrm>
            <a:off x="2823411" y="6305463"/>
            <a:ext cx="715477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Time-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pt-BR" sz="1867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00251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58F25-66CC-59CB-91FC-626954EB3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EEDCEC-867C-2936-2C32-FC27FE94D98A}"/>
              </a:ext>
            </a:extLst>
          </p:cNvPr>
          <p:cNvSpPr/>
          <p:nvPr/>
        </p:nvSpPr>
        <p:spPr>
          <a:xfrm>
            <a:off x="731520" y="36576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pt-BR" sz="16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 3  | CONSUMER</a:t>
            </a:r>
            <a:endParaRPr lang="pt-BR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88088D3-6A23-AD28-D570-B3B656CEC1A8}"/>
              </a:ext>
            </a:extLst>
          </p:cNvPr>
          <p:cNvSpPr/>
          <p:nvPr/>
        </p:nvSpPr>
        <p:spPr>
          <a:xfrm>
            <a:off x="731520" y="85344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3733" b="1" err="1">
                <a:solidFill>
                  <a:srgbClr val="00FF41"/>
                </a:solidFill>
                <a:latin typeface="Consolas" pitchFamily="34" charset="0"/>
              </a:rPr>
              <a:t>dCom</a:t>
            </a:r>
            <a:r>
              <a:rPr lang="pt-BR" sz="3733" b="1">
                <a:solidFill>
                  <a:srgbClr val="00FF41"/>
                </a:solidFill>
                <a:latin typeface="Consolas" pitchFamily="34" charset="0"/>
              </a:rPr>
              <a:t> </a:t>
            </a:r>
            <a:r>
              <a:rPr lang="pt-BR" sz="3733" b="1" err="1">
                <a:solidFill>
                  <a:srgbClr val="00FF41"/>
                </a:solidFill>
                <a:latin typeface="Consolas" pitchFamily="34" charset="0"/>
              </a:rPr>
              <a:t>Pricing</a:t>
            </a:r>
            <a:r>
              <a:rPr lang="pt-BR" sz="3733" b="1">
                <a:solidFill>
                  <a:srgbClr val="00FF41"/>
                </a:solidFill>
                <a:latin typeface="Consolas" pitchFamily="34" charset="0"/>
              </a:rPr>
              <a:t> Monitor</a:t>
            </a:r>
            <a:endParaRPr lang="pt-BR" sz="3733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FD5C45-DC67-3152-202D-A483EAC22EEC}"/>
              </a:ext>
            </a:extLst>
          </p:cNvPr>
          <p:cNvSpPr/>
          <p:nvPr/>
        </p:nvSpPr>
        <p:spPr>
          <a:xfrm>
            <a:off x="731520" y="164592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pt-BR" sz="1867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Teixeira </a:t>
            </a:r>
            <a:r>
              <a:rPr lang="it-IT" sz="1733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5 minutos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7F5CF84-D9B3-BD4E-C5A7-CE619DDF74EC}"/>
              </a:ext>
            </a:extLst>
          </p:cNvPr>
          <p:cNvSpPr/>
          <p:nvPr/>
        </p:nvSpPr>
        <p:spPr>
          <a:xfrm>
            <a:off x="731520" y="2438400"/>
            <a:ext cx="5303520" cy="3739643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pPr defTabSz="1219170">
              <a:defRPr/>
            </a:pPr>
            <a:endParaRPr lang="pt-B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C35481D-705E-8A53-0F06-9BEEEABFA81F}"/>
              </a:ext>
            </a:extLst>
          </p:cNvPr>
          <p:cNvSpPr/>
          <p:nvPr/>
        </p:nvSpPr>
        <p:spPr>
          <a:xfrm>
            <a:off x="975360" y="2621280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DESAFIO</a:t>
            </a:r>
            <a:endParaRPr lang="pt-BR" sz="1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6148C2C-FDD3-8C0D-33F1-B3D69271B7BD}"/>
              </a:ext>
            </a:extLst>
          </p:cNvPr>
          <p:cNvSpPr/>
          <p:nvPr/>
        </p:nvSpPr>
        <p:spPr>
          <a:xfrm>
            <a:off x="975360" y="3169920"/>
            <a:ext cx="4815840" cy="2271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preços de concorrentes no ecommerce (</a:t>
            </a:r>
            <a:r>
              <a:rPr lang="pt-BR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players e </a:t>
            </a:r>
            <a:r>
              <a:rPr lang="pt-BR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de forma contínua é intensivo em esforço manual, pouco ágil e limita a capacidade de reação rápida para manter competitividade, especialmente em períodos críticos como o plano de inverno de </a:t>
            </a:r>
            <a:r>
              <a:rPr lang="pt-BR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pt-BR" sz="1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A30478F-9DA3-6A23-4277-9C7C6ED819F4}"/>
              </a:ext>
            </a:extLst>
          </p:cNvPr>
          <p:cNvSpPr/>
          <p:nvPr/>
        </p:nvSpPr>
        <p:spPr>
          <a:xfrm>
            <a:off x="6400800" y="2438400"/>
            <a:ext cx="5303520" cy="1778381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pPr defTabSz="1219170">
              <a:defRPr/>
            </a:pPr>
            <a:endParaRPr lang="pt-B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DF37745-8D91-C09F-AA8A-A14EDC043DEE}"/>
              </a:ext>
            </a:extLst>
          </p:cNvPr>
          <p:cNvSpPr/>
          <p:nvPr/>
        </p:nvSpPr>
        <p:spPr>
          <a:xfrm>
            <a:off x="6644640" y="2621280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SOLUÇÃO &amp; TOOL</a:t>
            </a:r>
            <a:endParaRPr lang="pt-BR" sz="1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62CD588-90D0-4FD8-62E1-7B1F73A7BD26}"/>
              </a:ext>
            </a:extLst>
          </p:cNvPr>
          <p:cNvSpPr/>
          <p:nvPr/>
        </p:nvSpPr>
        <p:spPr>
          <a:xfrm>
            <a:off x="6644640" y="3169921"/>
            <a:ext cx="4815840" cy="90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pt-BR" sz="14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de um agente automatizado (via </a:t>
            </a:r>
            <a:r>
              <a:rPr lang="pt-BR" sz="14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Phyton</a:t>
            </a:r>
            <a:r>
              <a:rPr lang="pt-BR" sz="14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pt-BR" sz="14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r>
              <a:rPr lang="pt-BR" sz="14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para capturar preços da concorrência e estruturar o monitoramento ao longo de 3 meses, permitindo visibilidade contínua e acionamento rápido de ajustes de </a:t>
            </a:r>
            <a:r>
              <a:rPr lang="pt-BR" sz="14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pt-BR" sz="140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B4B7CDA0-861A-18DF-6858-B54464E91298}"/>
              </a:ext>
            </a:extLst>
          </p:cNvPr>
          <p:cNvSpPr/>
          <p:nvPr/>
        </p:nvSpPr>
        <p:spPr>
          <a:xfrm>
            <a:off x="6400800" y="4399662"/>
            <a:ext cx="5303520" cy="1778381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pPr defTabSz="1219170">
              <a:defRPr/>
            </a:pPr>
            <a:endParaRPr lang="pt-B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3D82D80-A256-2D10-5FAD-9D9F56F47AB4}"/>
              </a:ext>
            </a:extLst>
          </p:cNvPr>
          <p:cNvSpPr/>
          <p:nvPr/>
        </p:nvSpPr>
        <p:spPr>
          <a:xfrm>
            <a:off x="6644640" y="4582541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IMPACTO | 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Realization</a:t>
            </a:r>
            <a:endParaRPr lang="pt-BR" sz="1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3156A1FD-81CB-7621-9988-A6E5564E6143}"/>
              </a:ext>
            </a:extLst>
          </p:cNvPr>
          <p:cNvSpPr/>
          <p:nvPr/>
        </p:nvSpPr>
        <p:spPr>
          <a:xfrm>
            <a:off x="6644640" y="5131182"/>
            <a:ext cx="4815840" cy="90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Competitividade</a:t>
            </a:r>
            <a:r>
              <a:rPr lang="pt-BR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resposta mais rápida a movimentos de preço da concorrência no ecommerce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operacional</a:t>
            </a:r>
            <a:r>
              <a:rPr lang="pt-BR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eliminação do esforço manual diário de coleta de preços (35 produtos em 5+ </a:t>
            </a:r>
            <a:r>
              <a:rPr lang="pt-BR" sz="12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</a:t>
            </a:r>
            <a:r>
              <a:rPr lang="pt-BR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financeiro</a:t>
            </a:r>
            <a:r>
              <a:rPr lang="pt-BR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t-BR" sz="12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</a:t>
            </a:r>
            <a:r>
              <a:rPr lang="pt-BR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~33.5k em 3 meses</a:t>
            </a:r>
            <a:endParaRPr lang="pt-BR" sz="12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FDD9FE7C-89BD-F811-8060-BA99F1CEE4AD}"/>
              </a:ext>
            </a:extLst>
          </p:cNvPr>
          <p:cNvSpPr/>
          <p:nvPr/>
        </p:nvSpPr>
        <p:spPr>
          <a:xfrm>
            <a:off x="975360" y="5569215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Stakeholder </a:t>
            </a:r>
          </a:p>
          <a:p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Alves</a:t>
            </a:r>
            <a:endParaRPr lang="pt-BR" sz="2133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8AEB4FFF-9F87-4B87-9B65-D537E6E95CF7}"/>
              </a:ext>
            </a:extLst>
          </p:cNvPr>
          <p:cNvSpPr/>
          <p:nvPr/>
        </p:nvSpPr>
        <p:spPr>
          <a:xfrm>
            <a:off x="2823411" y="6305463"/>
            <a:ext cx="715477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Time-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pt-BR" sz="1867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5401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D677D-F22B-D6C5-5BCA-8999AD36C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58A4D0-E8CB-D20F-119A-C239C2646CE8}"/>
              </a:ext>
            </a:extLst>
          </p:cNvPr>
          <p:cNvSpPr/>
          <p:nvPr/>
        </p:nvSpPr>
        <p:spPr>
          <a:xfrm>
            <a:off x="731520" y="36576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pt-BR" sz="16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 4  | CUSTOMER DEVELOPMENT </a:t>
            </a:r>
            <a:endParaRPr lang="pt-BR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501545-873D-B373-252B-3109D09A8992}"/>
              </a:ext>
            </a:extLst>
          </p:cNvPr>
          <p:cNvSpPr/>
          <p:nvPr/>
        </p:nvSpPr>
        <p:spPr>
          <a:xfrm>
            <a:off x="731520" y="85344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3733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ROLLOUT GLOBAL NRM COPILOT AGENT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726FC61-4EBC-7648-EADB-CE6C081C2430}"/>
              </a:ext>
            </a:extLst>
          </p:cNvPr>
          <p:cNvSpPr/>
          <p:nvPr/>
        </p:nvSpPr>
        <p:spPr>
          <a:xfrm>
            <a:off x="731520" y="164592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pt-BR" sz="1733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Italo</a:t>
            </a:r>
            <a:r>
              <a:rPr lang="pt-BR" sz="1733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Santos &amp; Vinicius Santos |  5 minutos</a:t>
            </a:r>
            <a:endParaRPr lang="pt-BR" sz="17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EBDE83E-478C-729E-B799-EC846E4A1584}"/>
              </a:ext>
            </a:extLst>
          </p:cNvPr>
          <p:cNvSpPr/>
          <p:nvPr/>
        </p:nvSpPr>
        <p:spPr>
          <a:xfrm>
            <a:off x="731520" y="2438400"/>
            <a:ext cx="5303520" cy="3739643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pPr defTabSz="1219170">
              <a:defRPr/>
            </a:pPr>
            <a:endParaRPr lang="pt-B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717AB2B-22A0-5A50-F639-1384F98E3661}"/>
              </a:ext>
            </a:extLst>
          </p:cNvPr>
          <p:cNvSpPr/>
          <p:nvPr/>
        </p:nvSpPr>
        <p:spPr>
          <a:xfrm>
            <a:off x="975360" y="2621280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DESAFIO</a:t>
            </a:r>
            <a:endParaRPr lang="pt-BR" sz="1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4C3252E-0D4B-88F9-0D8F-D9B7E4F2227E}"/>
              </a:ext>
            </a:extLst>
          </p:cNvPr>
          <p:cNvSpPr/>
          <p:nvPr/>
        </p:nvSpPr>
        <p:spPr>
          <a:xfrm>
            <a:off x="975360" y="3169920"/>
            <a:ext cx="4815840" cy="2271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defRPr/>
            </a:pPr>
            <a:r>
              <a:rPr lang="en-US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NRM analysis depending on descriptive dashboards (PBI based) or ad hoc analysis done in EXCEL, hence, insights generation can be time consuming.</a:t>
            </a:r>
          </a:p>
          <a:p>
            <a:pPr defTabSz="1219170">
              <a:defRPr/>
            </a:pPr>
            <a:endParaRPr lang="en-US" sz="160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defTabSz="1219170">
              <a:defRPr/>
            </a:pPr>
            <a:r>
              <a:rPr lang="en-US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supports the NRM analyst to focus the analysis, create and validate hypothesis, and structure the story telling around opportunities identified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CFFFE91-1344-3A38-E859-17D934B493F9}"/>
              </a:ext>
            </a:extLst>
          </p:cNvPr>
          <p:cNvSpPr/>
          <p:nvPr/>
        </p:nvSpPr>
        <p:spPr>
          <a:xfrm>
            <a:off x="6400800" y="2438400"/>
            <a:ext cx="5303520" cy="1778381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pPr defTabSz="1219170">
              <a:defRPr/>
            </a:pPr>
            <a:endParaRPr lang="pt-B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4F4DA5E-A1D0-B1F6-F3E4-EED2D1394C91}"/>
              </a:ext>
            </a:extLst>
          </p:cNvPr>
          <p:cNvSpPr/>
          <p:nvPr/>
        </p:nvSpPr>
        <p:spPr>
          <a:xfrm>
            <a:off x="6644640" y="2621280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SOLUÇÃO &amp; TOOL</a:t>
            </a:r>
            <a:endParaRPr lang="pt-BR" sz="1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9EE5B9C-F19F-CE93-C566-1B2E513EC0E1}"/>
              </a:ext>
            </a:extLst>
          </p:cNvPr>
          <p:cNvSpPr/>
          <p:nvPr/>
        </p:nvSpPr>
        <p:spPr>
          <a:xfrm>
            <a:off x="6644640" y="3169921"/>
            <a:ext cx="4815840" cy="90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Agent specialized in NRM analysis based on NIELSEN data.</a:t>
            </a:r>
          </a:p>
          <a:p>
            <a:endParaRPr lang="en-US" sz="1600" dirty="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Data Sets | Prompt Engineering | Instruction Files</a:t>
            </a:r>
            <a:endParaRPr lang="en-US" sz="16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0B7B0465-4A32-7AB7-86AB-4B6736DF3607}"/>
              </a:ext>
            </a:extLst>
          </p:cNvPr>
          <p:cNvSpPr/>
          <p:nvPr/>
        </p:nvSpPr>
        <p:spPr>
          <a:xfrm>
            <a:off x="6400800" y="4399662"/>
            <a:ext cx="5303520" cy="1778381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pPr defTabSz="1219170">
              <a:defRPr/>
            </a:pPr>
            <a:endParaRPr lang="pt-B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BF390A78-8C59-4109-2B36-BBDAF5C01956}"/>
              </a:ext>
            </a:extLst>
          </p:cNvPr>
          <p:cNvSpPr/>
          <p:nvPr/>
        </p:nvSpPr>
        <p:spPr>
          <a:xfrm>
            <a:off x="6644640" y="4582541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IMPACTO | 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Realization</a:t>
            </a:r>
            <a:endParaRPr lang="pt-BR" sz="1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5BE5B6B6-01C4-4944-C225-81AF46CB38ED}"/>
              </a:ext>
            </a:extLst>
          </p:cNvPr>
          <p:cNvSpPr/>
          <p:nvPr/>
        </p:nvSpPr>
        <p:spPr>
          <a:xfrm>
            <a:off x="6644640" y="5131182"/>
            <a:ext cx="4815840" cy="90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time reduction on insights Generation for NRM processes in BW (Treatment) and PC (Deodorants)*</a:t>
            </a:r>
          </a:p>
          <a:p>
            <a:endParaRPr lang="en-US" sz="160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33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(*) testing phase</a:t>
            </a: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F8957FAA-CC76-2D8D-4141-E297D0506EAA}"/>
              </a:ext>
            </a:extLst>
          </p:cNvPr>
          <p:cNvSpPr/>
          <p:nvPr/>
        </p:nvSpPr>
        <p:spPr>
          <a:xfrm>
            <a:off x="975360" y="5569215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Stakeholder </a:t>
            </a:r>
          </a:p>
          <a:p>
            <a:r>
              <a:rPr lang="en-US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Antunes (BW) | Jade N (PC)</a:t>
            </a:r>
            <a:endParaRPr lang="en-US" sz="2133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28AAD6E9-7009-6305-AAA1-7F9E196CF88E}"/>
              </a:ext>
            </a:extLst>
          </p:cNvPr>
          <p:cNvSpPr/>
          <p:nvPr/>
        </p:nvSpPr>
        <p:spPr>
          <a:xfrm>
            <a:off x="2823411" y="6305463"/>
            <a:ext cx="715477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Time-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pt-BR" sz="1600" b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pt-BR" sz="1867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41564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8CCF4-999C-FC8A-C045-6ED5A1B79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B903C3-2869-CB68-EB14-8085DC38CF29}"/>
              </a:ext>
            </a:extLst>
          </p:cNvPr>
          <p:cNvSpPr/>
          <p:nvPr/>
        </p:nvSpPr>
        <p:spPr>
          <a:xfrm>
            <a:off x="731520" y="36576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pt-BR" sz="16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 5  | CUSTOMER DEVELOPMENT</a:t>
            </a:r>
            <a:endParaRPr lang="pt-BR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BFB427-FCD7-D32F-04EE-508A4CFF7294}"/>
              </a:ext>
            </a:extLst>
          </p:cNvPr>
          <p:cNvSpPr/>
          <p:nvPr/>
        </p:nvSpPr>
        <p:spPr>
          <a:xfrm>
            <a:off x="731520" y="85344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QUALITY CHECKER – EDDGIE STORE PANEL</a:t>
            </a:r>
            <a:endParaRPr lang="en-US" sz="3733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EBC9B39-A7EF-6BDD-7469-2B8D08DDA9D2}"/>
              </a:ext>
            </a:extLst>
          </p:cNvPr>
          <p:cNvSpPr/>
          <p:nvPr/>
        </p:nvSpPr>
        <p:spPr>
          <a:xfrm>
            <a:off x="731520" y="164592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pt-BR" sz="1733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Italo</a:t>
            </a:r>
            <a:r>
              <a:rPr lang="pt-BR" sz="1733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Santos &amp; Vinicius Santos |  5 minutos</a:t>
            </a:r>
            <a:endParaRPr lang="pt-BR" sz="17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7170489-A422-2E71-CB96-C3EE44D1E858}"/>
              </a:ext>
            </a:extLst>
          </p:cNvPr>
          <p:cNvSpPr/>
          <p:nvPr/>
        </p:nvSpPr>
        <p:spPr>
          <a:xfrm>
            <a:off x="731520" y="2438400"/>
            <a:ext cx="5303520" cy="3739643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pPr defTabSz="1219170">
              <a:defRPr/>
            </a:pPr>
            <a:endParaRPr lang="pt-B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79AA094-94BB-0F95-F4C2-B256D886AA17}"/>
              </a:ext>
            </a:extLst>
          </p:cNvPr>
          <p:cNvSpPr/>
          <p:nvPr/>
        </p:nvSpPr>
        <p:spPr>
          <a:xfrm>
            <a:off x="975360" y="2621280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DESAFIO</a:t>
            </a:r>
            <a:endParaRPr lang="pt-BR" sz="1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7D5AC5C-8485-021E-44D7-7BAD88859197}"/>
              </a:ext>
            </a:extLst>
          </p:cNvPr>
          <p:cNvSpPr/>
          <p:nvPr/>
        </p:nvSpPr>
        <p:spPr>
          <a:xfrm>
            <a:off x="975360" y="3169920"/>
            <a:ext cx="4815840" cy="2271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defRPr/>
            </a:pPr>
            <a:r>
              <a:rPr lang="en-US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PANEL data set is consumed by multiple technology components in EDDGIE (PICOS, CRM, TRAX, </a:t>
            </a:r>
            <a:r>
              <a:rPr lang="en-US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en-US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defTabSz="1219170">
              <a:defRPr/>
            </a:pPr>
            <a:endParaRPr lang="en-US" sz="160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defTabSz="1219170">
              <a:defRPr/>
            </a:pPr>
            <a:r>
              <a:rPr lang="en-US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issues in STORE PANEL leads to incorrect KPI calculation, sales incentives evaluation and other operational issues.</a:t>
            </a:r>
          </a:p>
          <a:p>
            <a:pPr defTabSz="1219170">
              <a:defRPr/>
            </a:pPr>
            <a:endParaRPr lang="en-US" sz="160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defTabSz="1219170">
              <a:defRPr/>
            </a:pPr>
            <a:r>
              <a:rPr lang="en-US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checking the data quality is time consuming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C3B8519-B071-898E-238A-5DFF3BA7E64D}"/>
              </a:ext>
            </a:extLst>
          </p:cNvPr>
          <p:cNvSpPr/>
          <p:nvPr/>
        </p:nvSpPr>
        <p:spPr>
          <a:xfrm>
            <a:off x="6400800" y="2438400"/>
            <a:ext cx="5303520" cy="1778381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pPr defTabSz="1219170">
              <a:defRPr/>
            </a:pPr>
            <a:endParaRPr lang="pt-B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D4F9E3D-25B7-B438-2449-448638C9651E}"/>
              </a:ext>
            </a:extLst>
          </p:cNvPr>
          <p:cNvSpPr/>
          <p:nvPr/>
        </p:nvSpPr>
        <p:spPr>
          <a:xfrm>
            <a:off x="6644640" y="2621280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SOLUÇÃO &amp; TOOL</a:t>
            </a:r>
            <a:endParaRPr lang="pt-BR" sz="1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25ACF21-1974-CD8E-A7A9-291E1D70B529}"/>
              </a:ext>
            </a:extLst>
          </p:cNvPr>
          <p:cNvSpPr/>
          <p:nvPr/>
        </p:nvSpPr>
        <p:spPr>
          <a:xfrm>
            <a:off x="6644640" y="3169921"/>
            <a:ext cx="4815840" cy="90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defRPr/>
            </a:pPr>
            <a:r>
              <a:rPr lang="en-US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Agent specialized in checking the data quality of EDDGIE STORE PANEL</a:t>
            </a:r>
          </a:p>
          <a:p>
            <a:pPr defTabSz="1219170">
              <a:defRPr/>
            </a:pPr>
            <a:endParaRPr lang="en-US" sz="160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defTabSz="1219170">
              <a:defRPr/>
            </a:pPr>
            <a:r>
              <a:rPr lang="en-US" sz="14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Data Sets | Validation Rules Inventory | Prompt Engineering</a:t>
            </a: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CA794BE3-1C4A-2CC4-F522-E58220707C63}"/>
              </a:ext>
            </a:extLst>
          </p:cNvPr>
          <p:cNvSpPr/>
          <p:nvPr/>
        </p:nvSpPr>
        <p:spPr>
          <a:xfrm>
            <a:off x="6400800" y="4399662"/>
            <a:ext cx="5303520" cy="1778381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pPr defTabSz="1219170">
              <a:defRPr/>
            </a:pPr>
            <a:endParaRPr lang="pt-B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10945D54-2F54-5795-B182-66ABE5B7F03A}"/>
              </a:ext>
            </a:extLst>
          </p:cNvPr>
          <p:cNvSpPr/>
          <p:nvPr/>
        </p:nvSpPr>
        <p:spPr>
          <a:xfrm>
            <a:off x="6644640" y="4582541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IMPACTO | 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Realization</a:t>
            </a:r>
            <a:endParaRPr lang="pt-BR" sz="1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AB23876B-435B-BA11-DF79-0C32F18D467F}"/>
              </a:ext>
            </a:extLst>
          </p:cNvPr>
          <p:cNvSpPr/>
          <p:nvPr/>
        </p:nvSpPr>
        <p:spPr>
          <a:xfrm>
            <a:off x="6644640" y="5131182"/>
            <a:ext cx="4815840" cy="90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time reduction on data quality checks</a:t>
            </a:r>
            <a:endParaRPr lang="en-US" sz="1333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55FCEF25-D4A0-99AD-1181-1CD2E39237CF}"/>
              </a:ext>
            </a:extLst>
          </p:cNvPr>
          <p:cNvSpPr/>
          <p:nvPr/>
        </p:nvSpPr>
        <p:spPr>
          <a:xfrm>
            <a:off x="975360" y="5569215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Stakeholder </a:t>
            </a:r>
          </a:p>
          <a:p>
            <a:r>
              <a:rPr lang="en-US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HUB Back Office</a:t>
            </a:r>
            <a:endParaRPr lang="en-US" sz="2133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2121EAF4-5F45-2DAF-B51E-26438BABFC8D}"/>
              </a:ext>
            </a:extLst>
          </p:cNvPr>
          <p:cNvSpPr/>
          <p:nvPr/>
        </p:nvSpPr>
        <p:spPr>
          <a:xfrm>
            <a:off x="2823411" y="6305463"/>
            <a:ext cx="715477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Time-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pt-BR" sz="1600" b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pt-BR" sz="1867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69218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6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 1  |  FOCUS MARKET </a:t>
            </a:r>
            <a:endParaRPr lang="pt-BR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85344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3700" b="1">
                <a:solidFill>
                  <a:srgbClr val="00FF41"/>
                </a:solidFill>
                <a:latin typeface="Consolas"/>
                <a:ea typeface="Consolas" pitchFamily="34" charset="-122"/>
                <a:cs typeface="Consolas" pitchFamily="34" charset="-120"/>
              </a:rPr>
              <a:t>Time Bucket Hub Itupeva</a:t>
            </a:r>
            <a:endParaRPr lang="pt-BR" sz="3700">
              <a:latin typeface="Consola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733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Cardoso  |  5 minutos</a:t>
            </a:r>
            <a:endParaRPr lang="pt-BR" sz="1733"/>
          </a:p>
        </p:txBody>
      </p:sp>
      <p:sp>
        <p:nvSpPr>
          <p:cNvPr id="5" name="Shape 3"/>
          <p:cNvSpPr/>
          <p:nvPr/>
        </p:nvSpPr>
        <p:spPr>
          <a:xfrm>
            <a:off x="731520" y="2438401"/>
            <a:ext cx="5303520" cy="3739643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6" name="Text 4"/>
          <p:cNvSpPr/>
          <p:nvPr/>
        </p:nvSpPr>
        <p:spPr>
          <a:xfrm>
            <a:off x="975360" y="2621280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DESAFIO</a:t>
            </a:r>
            <a:endParaRPr lang="pt-BR" sz="1867"/>
          </a:p>
        </p:txBody>
      </p:sp>
      <p:sp>
        <p:nvSpPr>
          <p:cNvPr id="7" name="Text 5"/>
          <p:cNvSpPr/>
          <p:nvPr/>
        </p:nvSpPr>
        <p:spPr>
          <a:xfrm>
            <a:off x="975360" y="3169921"/>
            <a:ext cx="4815840" cy="2271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Atualmente não há mecanismos de verificação se os times de programação estão seguindo a capacidade acordada para o HUB. Logo, ao consolidar o DOC de cargas é comum que haja inconsistências onde há mais carros programados do que a capacidade planejada.</a:t>
            </a:r>
          </a:p>
          <a:p>
            <a:pPr algn="just"/>
            <a:endParaRPr lang="pt-BR" sz="160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/>
            <a:r>
              <a:rPr lang="pt-BR" sz="1600" b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Oportunidade: 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que os times de programação de carga extrapolem a capacidade acordada por dia/hora no HUB Itupeva.</a:t>
            </a:r>
          </a:p>
          <a:p>
            <a:pPr algn="just"/>
            <a:endParaRPr lang="pt-BR" sz="1600"/>
          </a:p>
        </p:txBody>
      </p:sp>
      <p:sp>
        <p:nvSpPr>
          <p:cNvPr id="8" name="Shape 6"/>
          <p:cNvSpPr/>
          <p:nvPr/>
        </p:nvSpPr>
        <p:spPr>
          <a:xfrm>
            <a:off x="6400800" y="2438400"/>
            <a:ext cx="5303520" cy="1778381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9" name="Text 7"/>
          <p:cNvSpPr/>
          <p:nvPr/>
        </p:nvSpPr>
        <p:spPr>
          <a:xfrm>
            <a:off x="6644640" y="2621280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SOLUÇÃO &amp; TOOL</a:t>
            </a:r>
            <a:endParaRPr lang="pt-BR" sz="1867"/>
          </a:p>
        </p:txBody>
      </p:sp>
      <p:sp>
        <p:nvSpPr>
          <p:cNvPr id="10" name="Text 8"/>
          <p:cNvSpPr/>
          <p:nvPr/>
        </p:nvSpPr>
        <p:spPr>
          <a:xfrm>
            <a:off x="6644640" y="3083522"/>
            <a:ext cx="4815840" cy="90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pt-BR" sz="1600" b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Solução: 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Agendador de Cargas – Agente que impede que os times de programação agendem cargas excedendo a capacidade do HUB. </a:t>
            </a:r>
          </a:p>
          <a:p>
            <a:r>
              <a:rPr lang="pt-BR" sz="1600" b="1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Tool: </a:t>
            </a:r>
            <a:r>
              <a:rPr lang="pt-BR" sz="16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Copilot Studio (POC) </a:t>
            </a:r>
            <a:endParaRPr lang="pt-BR" sz="160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E2D156C6-E8C9-ACE7-0B80-C7398E328DBD}"/>
              </a:ext>
            </a:extLst>
          </p:cNvPr>
          <p:cNvSpPr/>
          <p:nvPr/>
        </p:nvSpPr>
        <p:spPr>
          <a:xfrm>
            <a:off x="6400800" y="4399663"/>
            <a:ext cx="5303520" cy="1778381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A44E3BBA-170E-4382-6901-49555B387CD7}"/>
              </a:ext>
            </a:extLst>
          </p:cNvPr>
          <p:cNvSpPr/>
          <p:nvPr/>
        </p:nvSpPr>
        <p:spPr>
          <a:xfrm>
            <a:off x="6644640" y="4582541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51" b="1">
                <a:solidFill>
                  <a:srgbClr val="00FF41"/>
                </a:solidFill>
                <a:latin typeface="Consolas"/>
                <a:ea typeface="Consolas" pitchFamily="34" charset="-122"/>
                <a:cs typeface="Consolas" pitchFamily="34" charset="-120"/>
              </a:rPr>
              <a:t>IMPACTO | Value Realization</a:t>
            </a:r>
            <a:endParaRPr lang="pt-BR" sz="1851">
              <a:latin typeface="Consolas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E32D289-860B-1667-75FB-3E4447CE1EB0}"/>
              </a:ext>
            </a:extLst>
          </p:cNvPr>
          <p:cNvSpPr/>
          <p:nvPr/>
        </p:nvSpPr>
        <p:spPr>
          <a:xfrm>
            <a:off x="6644640" y="5030346"/>
            <a:ext cx="4815840" cy="90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6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Melhora nos indicadores: </a:t>
            </a:r>
          </a:p>
          <a:p>
            <a:pPr marL="285744" indent="-285744">
              <a:buFontTx/>
              <a:buChar char="-"/>
            </a:pPr>
            <a:r>
              <a:rPr lang="pt-BR" sz="16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Diminuição do TAT</a:t>
            </a:r>
          </a:p>
          <a:p>
            <a:pPr marL="285744" indent="-285744">
              <a:buFontTx/>
              <a:buChar char="-"/>
            </a:pPr>
            <a:r>
              <a:rPr lang="pt-BR" sz="16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Zero estadia</a:t>
            </a:r>
          </a:p>
          <a:p>
            <a:pPr marL="285744" indent="-285744">
              <a:buFontTx/>
              <a:buChar char="-"/>
            </a:pPr>
            <a:r>
              <a:rPr lang="pt-BR" sz="16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Diminuição de custos com motoristas</a:t>
            </a: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4FE530EE-63C2-5A03-AA29-BD4597CC1A0D}"/>
              </a:ext>
            </a:extLst>
          </p:cNvPr>
          <p:cNvSpPr/>
          <p:nvPr/>
        </p:nvSpPr>
        <p:spPr>
          <a:xfrm>
            <a:off x="975360" y="5569217"/>
            <a:ext cx="4815840" cy="435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Stakeholder </a:t>
            </a:r>
          </a:p>
          <a:p>
            <a:r>
              <a:rPr lang="pt-BR" sz="1600">
                <a:solidFill>
                  <a:srgbClr val="AAAAAA"/>
                </a:solidFill>
              </a:rPr>
              <a:t>Operação HUB Itupeva – Diego Soaress</a:t>
            </a: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2A75D679-5F72-36F5-E08B-CC3758092546}"/>
              </a:ext>
            </a:extLst>
          </p:cNvPr>
          <p:cNvSpPr/>
          <p:nvPr/>
        </p:nvSpPr>
        <p:spPr>
          <a:xfrm>
            <a:off x="2823412" y="6305463"/>
            <a:ext cx="715477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51" b="1">
                <a:solidFill>
                  <a:srgbClr val="00FF41"/>
                </a:solidFill>
                <a:latin typeface="Consolas"/>
                <a:ea typeface="Consolas" pitchFamily="34" charset="-122"/>
                <a:cs typeface="Consolas" pitchFamily="34" charset="-120"/>
              </a:rPr>
              <a:t>Time-to-value: </a:t>
            </a:r>
            <a:r>
              <a:rPr lang="pt-BR" sz="1851" b="1">
                <a:solidFill>
                  <a:srgbClr val="FF0000"/>
                </a:solidFill>
                <a:latin typeface="Consolas"/>
                <a:ea typeface="Consolas" pitchFamily="34" charset="-122"/>
                <a:cs typeface="Consolas" pitchFamily="34" charset="-120"/>
              </a:rPr>
              <a:t>2 semanas</a:t>
            </a:r>
            <a:endParaRPr lang="pt-BR" sz="1851">
              <a:solidFill>
                <a:srgbClr val="FF0000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4A595-E002-4F36-042F-9BB0F5337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18198D-5999-B0A2-7750-95CC9CA6E0A7}"/>
              </a:ext>
            </a:extLst>
          </p:cNvPr>
          <p:cNvSpPr/>
          <p:nvPr/>
        </p:nvSpPr>
        <p:spPr>
          <a:xfrm>
            <a:off x="731520" y="36576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600" dirty="0">
                <a:solidFill>
                  <a:srgbClr val="AAAAAA"/>
                </a:solidFill>
                <a:latin typeface="Consolas"/>
                <a:ea typeface="Consolas" pitchFamily="34" charset="-122"/>
                <a:cs typeface="Consolas" pitchFamily="34" charset="-120"/>
              </a:rPr>
              <a:t>USE CASE 2  |  FOCUS MARKET</a:t>
            </a:r>
            <a:endParaRPr lang="pt-BR" sz="1600" dirty="0">
              <a:latin typeface="Consola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406584-7067-8B2B-D141-DC4CC87D52BF}"/>
              </a:ext>
            </a:extLst>
          </p:cNvPr>
          <p:cNvSpPr/>
          <p:nvPr/>
        </p:nvSpPr>
        <p:spPr>
          <a:xfrm>
            <a:off x="731520" y="85344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3700" b="1">
                <a:solidFill>
                  <a:srgbClr val="00FF41"/>
                </a:solidFill>
                <a:latin typeface="Consolas"/>
              </a:rPr>
              <a:t>IA Community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D7F038D-7164-A03A-123B-38B321748138}"/>
              </a:ext>
            </a:extLst>
          </p:cNvPr>
          <p:cNvSpPr/>
          <p:nvPr/>
        </p:nvSpPr>
        <p:spPr>
          <a:xfrm>
            <a:off x="731520" y="164592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7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Thaiz Cabral |  5 minutos</a:t>
            </a:r>
            <a:endParaRPr lang="pt-BR" sz="17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78729B7-DF11-552B-D59F-53C7424DED1B}"/>
              </a:ext>
            </a:extLst>
          </p:cNvPr>
          <p:cNvSpPr/>
          <p:nvPr/>
        </p:nvSpPr>
        <p:spPr>
          <a:xfrm>
            <a:off x="731520" y="2438401"/>
            <a:ext cx="5303520" cy="3739643"/>
          </a:xfrm>
          <a:prstGeom prst="rect">
            <a:avLst/>
          </a:prstGeom>
          <a:solidFill>
            <a:srgbClr val="1A3A1A"/>
          </a:solidFill>
          <a:ln/>
        </p:spPr>
        <p:txBody>
          <a:bodyPr lIns="91440" tIns="45720" rIns="91440" bIns="45720" anchor="t"/>
          <a:lstStyle/>
          <a:p>
            <a:endParaRPr lang="pt-BR" sz="1100">
              <a:latin typeface="Segoe UI"/>
              <a:ea typeface="Calibri"/>
              <a:cs typeface="Segoe UI"/>
            </a:endParaRPr>
          </a:p>
          <a:p>
            <a:endParaRPr lang="pt-BR" sz="1100">
              <a:latin typeface="Segoe UI"/>
              <a:ea typeface="Calibri"/>
              <a:cs typeface="Segoe UI"/>
            </a:endParaRPr>
          </a:p>
          <a:p>
            <a:endParaRPr lang="pt-BR" sz="1100">
              <a:latin typeface="Segoe UI"/>
              <a:ea typeface="Calibri"/>
              <a:cs typeface="Segoe UI"/>
            </a:endParaRPr>
          </a:p>
          <a:p>
            <a:endParaRPr lang="pt-BR" sz="1100">
              <a:latin typeface="Segoe UI"/>
              <a:ea typeface="+mn-lt"/>
              <a:cs typeface="Segoe UI"/>
            </a:endParaRPr>
          </a:p>
          <a:p>
            <a:r>
              <a:rPr lang="pt-BR" sz="16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Atualmente, embora ferramentas de Inteligência Artificial estejam disponíveis para grande parte dos colaboradores, a adoção ainda é desigual entre áreas e níveis de conhecimento.</a:t>
            </a:r>
            <a:endParaRPr lang="en-US" sz="160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r>
              <a:rPr lang="pt-BR" sz="16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Muitos colaboradores, especialmente em operações, logística e </a:t>
            </a:r>
            <a:r>
              <a:rPr lang="pt-BR" sz="16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Supply</a:t>
            </a:r>
            <a:r>
              <a:rPr lang="pt-BR" sz="16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Chain, ainda não conhecem aplicações práticas de IA para suas atividades do dia a dia, o que limita a captura de ganhos de produtividade e inovação.</a:t>
            </a:r>
            <a:endParaRPr lang="pt-BR" sz="1600">
              <a:solidFill>
                <a:schemeClr val="bg1">
                  <a:lumMod val="95000"/>
                </a:schemeClr>
              </a:solidFill>
              <a:latin typeface="Calibri"/>
              <a:ea typeface="Calibri"/>
              <a:cs typeface="Calibri"/>
            </a:endParaRPr>
          </a:p>
          <a:p>
            <a:endParaRPr lang="pt-BR" sz="2400">
              <a:solidFill>
                <a:schemeClr val="bg2"/>
              </a:solidFill>
              <a:latin typeface="Calibri"/>
              <a:ea typeface="Calibri"/>
              <a:cs typeface="Calibri"/>
            </a:endParaRPr>
          </a:p>
          <a:p>
            <a:endParaRPr lang="pt-BR" sz="1100">
              <a:latin typeface="Segoe UI"/>
              <a:ea typeface="Calibri"/>
              <a:cs typeface="Segoe U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EB57AF7-4F23-975C-075B-8DB57EB8FE74}"/>
              </a:ext>
            </a:extLst>
          </p:cNvPr>
          <p:cNvSpPr/>
          <p:nvPr/>
        </p:nvSpPr>
        <p:spPr>
          <a:xfrm>
            <a:off x="975360" y="2621280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DESAFIO</a:t>
            </a:r>
            <a:endParaRPr lang="pt-BR" sz="1867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A874873-5A29-5861-C547-8C50D367AC73}"/>
              </a:ext>
            </a:extLst>
          </p:cNvPr>
          <p:cNvSpPr/>
          <p:nvPr/>
        </p:nvSpPr>
        <p:spPr>
          <a:xfrm>
            <a:off x="975360" y="3169921"/>
            <a:ext cx="4815840" cy="2271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endParaRPr lang="pt-BR" sz="1100">
              <a:solidFill>
                <a:srgbClr val="AAAAAA"/>
              </a:solidFill>
              <a:latin typeface="Segoe UI"/>
              <a:ea typeface="Calibri"/>
              <a:cs typeface="Segoe UI"/>
            </a:endParaRPr>
          </a:p>
          <a:p>
            <a:pPr algn="just"/>
            <a:endParaRPr lang="pt-BR" sz="160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4AE2881-3CAC-9BCB-9A3D-EE8AD3B246DE}"/>
              </a:ext>
            </a:extLst>
          </p:cNvPr>
          <p:cNvSpPr/>
          <p:nvPr/>
        </p:nvSpPr>
        <p:spPr>
          <a:xfrm>
            <a:off x="6400800" y="2438400"/>
            <a:ext cx="5303520" cy="1778381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FFB0B9E-1323-E9AB-9210-81427DB24D69}"/>
              </a:ext>
            </a:extLst>
          </p:cNvPr>
          <p:cNvSpPr/>
          <p:nvPr/>
        </p:nvSpPr>
        <p:spPr>
          <a:xfrm>
            <a:off x="6644640" y="2621280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SOLUÇÃO &amp; TOOL</a:t>
            </a:r>
            <a:endParaRPr lang="pt-BR" sz="1867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B02F4DB-B3BB-34C2-6705-AFD70705582F}"/>
              </a:ext>
            </a:extLst>
          </p:cNvPr>
          <p:cNvSpPr/>
          <p:nvPr/>
        </p:nvSpPr>
        <p:spPr>
          <a:xfrm>
            <a:off x="6644640" y="3083522"/>
            <a:ext cx="4815840" cy="90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pt-BR" sz="1600" b="1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Solução: </a:t>
            </a:r>
            <a:r>
              <a:rPr lang="pt-BR" sz="16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 Aplicação de Treinamentos e atividades para engajar o time de C.O no uso das ferramentas de IA e criação de uma comunidade para discussão e trabalho em casos de </a:t>
            </a:r>
            <a:r>
              <a:rPr lang="pt-BR" sz="1600" err="1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negocios</a:t>
            </a:r>
            <a:r>
              <a:rPr lang="pt-BR" sz="16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.</a:t>
            </a:r>
            <a:endParaRPr lang="pt-BR" sz="160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pt-BR" sz="1600" b="1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Tool: </a:t>
            </a:r>
            <a:r>
              <a:rPr lang="pt-BR" sz="16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Copilot Web e 365.</a:t>
            </a: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12978CBF-241D-4F04-9A87-589EEB3A6757}"/>
              </a:ext>
            </a:extLst>
          </p:cNvPr>
          <p:cNvSpPr/>
          <p:nvPr/>
        </p:nvSpPr>
        <p:spPr>
          <a:xfrm>
            <a:off x="6400800" y="4399663"/>
            <a:ext cx="5303520" cy="1778381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E72B38B6-CFD9-B26F-232D-05CC91AA35C3}"/>
              </a:ext>
            </a:extLst>
          </p:cNvPr>
          <p:cNvSpPr/>
          <p:nvPr/>
        </p:nvSpPr>
        <p:spPr>
          <a:xfrm>
            <a:off x="6644640" y="4582541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IMPACTO | 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Realization</a:t>
            </a:r>
            <a:endParaRPr lang="pt-BR" sz="1867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EC9EEDB0-02C4-B610-F53E-1519D5F60A48}"/>
              </a:ext>
            </a:extLst>
          </p:cNvPr>
          <p:cNvSpPr/>
          <p:nvPr/>
        </p:nvSpPr>
        <p:spPr>
          <a:xfrm>
            <a:off x="6644640" y="5030346"/>
            <a:ext cx="4815840" cy="90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600">
                <a:solidFill>
                  <a:srgbClr val="FF0000"/>
                </a:solidFill>
                <a:ea typeface="Calibri"/>
                <a:cs typeface="Calibri"/>
              </a:rPr>
              <a:t>Tranformação digital em C.O;</a:t>
            </a:r>
          </a:p>
          <a:p>
            <a:r>
              <a:rPr lang="pt-BR" sz="1600">
                <a:solidFill>
                  <a:srgbClr val="FF0000"/>
                </a:solidFill>
                <a:ea typeface="Calibri"/>
                <a:cs typeface="Calibri"/>
              </a:rPr>
              <a:t>Aumento de Licenças;</a:t>
            </a:r>
            <a:endParaRPr lang="pt-BR"/>
          </a:p>
          <a:p>
            <a:r>
              <a:rPr lang="pt-BR" sz="1600">
                <a:solidFill>
                  <a:srgbClr val="FF0000"/>
                </a:solidFill>
                <a:ea typeface="Calibri"/>
                <a:cs typeface="Calibri"/>
              </a:rPr>
              <a:t>Aumento de Prompts gerados;</a:t>
            </a:r>
          </a:p>
          <a:p>
            <a:r>
              <a:rPr lang="pt-BR" sz="1600">
                <a:solidFill>
                  <a:srgbClr val="FF0000"/>
                </a:solidFill>
                <a:ea typeface="Calibri"/>
                <a:cs typeface="Calibri"/>
              </a:rPr>
              <a:t>Automação de Tarefas visando aumento de produtividade.</a:t>
            </a: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0224295C-59DA-7646-3BC4-347BCE7204A8}"/>
              </a:ext>
            </a:extLst>
          </p:cNvPr>
          <p:cNvSpPr/>
          <p:nvPr/>
        </p:nvSpPr>
        <p:spPr>
          <a:xfrm>
            <a:off x="975360" y="5569217"/>
            <a:ext cx="4815840" cy="435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Stakeholder </a:t>
            </a:r>
          </a:p>
          <a:p>
            <a:r>
              <a:rPr lang="pt-BR" sz="1600">
                <a:solidFill>
                  <a:srgbClr val="AAAAAA"/>
                </a:solidFill>
                <a:ea typeface="Calibri"/>
                <a:cs typeface="Calibri"/>
              </a:rPr>
              <a:t>IA COMMUNITY - João Nascimento</a:t>
            </a: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865A2591-2293-73D7-A235-178BEA4945DF}"/>
              </a:ext>
            </a:extLst>
          </p:cNvPr>
          <p:cNvSpPr/>
          <p:nvPr/>
        </p:nvSpPr>
        <p:spPr>
          <a:xfrm>
            <a:off x="2823412" y="6305463"/>
            <a:ext cx="715477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51" b="1">
                <a:solidFill>
                  <a:srgbClr val="00FF41"/>
                </a:solidFill>
                <a:latin typeface="Consolas"/>
                <a:ea typeface="Consolas" pitchFamily="34" charset="-122"/>
                <a:cs typeface="Consolas" pitchFamily="34" charset="-120"/>
              </a:rPr>
              <a:t>Time-</a:t>
            </a:r>
            <a:r>
              <a:rPr lang="pt-BR" sz="1851" b="1" err="1">
                <a:solidFill>
                  <a:srgbClr val="00FF41"/>
                </a:solidFill>
                <a:latin typeface="Consolas"/>
                <a:ea typeface="Consolas" pitchFamily="34" charset="-122"/>
                <a:cs typeface="Consolas" pitchFamily="34" charset="-120"/>
              </a:rPr>
              <a:t>to</a:t>
            </a:r>
            <a:r>
              <a:rPr lang="pt-BR" sz="1851" b="1">
                <a:solidFill>
                  <a:srgbClr val="00FF41"/>
                </a:solidFill>
                <a:latin typeface="Consolas"/>
                <a:ea typeface="Consolas" pitchFamily="34" charset="-122"/>
                <a:cs typeface="Consolas" pitchFamily="34" charset="-120"/>
              </a:rPr>
              <a:t>-</a:t>
            </a:r>
            <a:r>
              <a:rPr lang="pt-BR" sz="1851" b="1" err="1">
                <a:solidFill>
                  <a:srgbClr val="00FF41"/>
                </a:solidFill>
                <a:latin typeface="Consolas"/>
                <a:ea typeface="Consolas" pitchFamily="34" charset="-122"/>
                <a:cs typeface="Consolas" pitchFamily="34" charset="-120"/>
              </a:rPr>
              <a:t>value</a:t>
            </a:r>
            <a:r>
              <a:rPr lang="pt-BR" sz="1851" b="1">
                <a:solidFill>
                  <a:srgbClr val="00FF41"/>
                </a:solidFill>
                <a:latin typeface="Consolas"/>
                <a:ea typeface="Consolas" pitchFamily="34" charset="-122"/>
                <a:cs typeface="Consolas" pitchFamily="34" charset="-120"/>
              </a:rPr>
              <a:t>: </a:t>
            </a:r>
            <a:r>
              <a:rPr lang="pt-BR" sz="1851" b="1">
                <a:solidFill>
                  <a:srgbClr val="FF0000"/>
                </a:solidFill>
                <a:latin typeface="Consolas"/>
                <a:ea typeface="Consolas" pitchFamily="34" charset="-122"/>
                <a:cs typeface="Consolas" pitchFamily="34" charset="-120"/>
              </a:rPr>
              <a:t>Contínuo</a:t>
            </a:r>
            <a:endParaRPr lang="pt-BR" sz="1851" b="1">
              <a:solidFill>
                <a:srgbClr val="FF0000"/>
              </a:solidFill>
              <a:highlight>
                <a:srgbClr val="FFFF00"/>
              </a:highlight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720520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6CEA8-4570-49D5-2A62-1E9BE265B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ADD7B4-3C2D-9FF6-6E4A-7FA005049FC3}"/>
              </a:ext>
            </a:extLst>
          </p:cNvPr>
          <p:cNvSpPr/>
          <p:nvPr/>
        </p:nvSpPr>
        <p:spPr>
          <a:xfrm>
            <a:off x="731520" y="36576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600" dirty="0">
                <a:solidFill>
                  <a:srgbClr val="AAAAAA"/>
                </a:solidFill>
                <a:latin typeface="Consolas"/>
                <a:ea typeface="Consolas" pitchFamily="34" charset="-122"/>
                <a:cs typeface="Consolas" pitchFamily="34" charset="-120"/>
              </a:rPr>
              <a:t>USE CASE 3  |  FOCUS MARKET</a:t>
            </a:r>
            <a:endParaRPr lang="pt-BR" sz="1600" dirty="0">
              <a:latin typeface="Consola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7B4442-C641-3F2E-CE55-E64213D663E5}"/>
              </a:ext>
            </a:extLst>
          </p:cNvPr>
          <p:cNvSpPr/>
          <p:nvPr/>
        </p:nvSpPr>
        <p:spPr>
          <a:xfrm>
            <a:off x="731521" y="1201783"/>
            <a:ext cx="10699932" cy="512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3700">
                <a:solidFill>
                  <a:srgbClr val="00FF41"/>
                </a:solidFill>
                <a:ea typeface="+mn-lt"/>
                <a:cs typeface="+mn-lt"/>
              </a:rPr>
              <a:t>Performance Insights Scorecard</a:t>
            </a:r>
            <a:endParaRPr lang="en-US"/>
          </a:p>
          <a:p>
            <a:endParaRPr lang="pt-BR" sz="3700" b="1">
              <a:solidFill>
                <a:srgbClr val="00FF41"/>
              </a:solidFill>
              <a:latin typeface="Consola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BB126BE-1D51-FE98-3CE8-2C44341BA93C}"/>
              </a:ext>
            </a:extLst>
          </p:cNvPr>
          <p:cNvSpPr/>
          <p:nvPr/>
        </p:nvSpPr>
        <p:spPr>
          <a:xfrm>
            <a:off x="731520" y="164592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7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Thaiz Cabral |  5 minutos</a:t>
            </a:r>
            <a:endParaRPr lang="pt-BR" sz="17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5F2192C-4390-A869-4F9E-B47FAF6E99BF}"/>
              </a:ext>
            </a:extLst>
          </p:cNvPr>
          <p:cNvSpPr/>
          <p:nvPr/>
        </p:nvSpPr>
        <p:spPr>
          <a:xfrm>
            <a:off x="731520" y="2438401"/>
            <a:ext cx="5303520" cy="3739643"/>
          </a:xfrm>
          <a:prstGeom prst="rect">
            <a:avLst/>
          </a:prstGeom>
          <a:solidFill>
            <a:srgbClr val="1A3A1A"/>
          </a:solidFill>
          <a:ln/>
        </p:spPr>
        <p:txBody>
          <a:bodyPr lIns="91440" tIns="45720" rIns="91440" bIns="45720" anchor="t"/>
          <a:lstStyle/>
          <a:p>
            <a:endParaRPr lang="pt-BR" sz="1100">
              <a:latin typeface="Segoe UI"/>
              <a:ea typeface="Calibri"/>
              <a:cs typeface="Segoe UI"/>
            </a:endParaRPr>
          </a:p>
          <a:p>
            <a:endParaRPr lang="pt-BR" sz="1100">
              <a:latin typeface="Segoe UI"/>
              <a:ea typeface="Calibri"/>
              <a:cs typeface="Segoe UI"/>
            </a:endParaRPr>
          </a:p>
          <a:p>
            <a:endParaRPr lang="pt-BR" sz="1100">
              <a:latin typeface="Segoe UI"/>
              <a:ea typeface="Calibri"/>
              <a:cs typeface="Segoe UI"/>
            </a:endParaRPr>
          </a:p>
          <a:p>
            <a:endParaRPr lang="pt-BR" sz="1100">
              <a:latin typeface="Segoe UI"/>
              <a:ea typeface="Calibri"/>
              <a:cs typeface="Segoe UI"/>
            </a:endParaRPr>
          </a:p>
          <a:p>
            <a:r>
              <a:rPr lang="pt-BR" sz="16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Atualmente temos um </a:t>
            </a:r>
            <a:r>
              <a:rPr lang="pt-BR" sz="16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scorecard</a:t>
            </a:r>
            <a:r>
              <a:rPr lang="pt-BR" sz="16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de </a:t>
            </a:r>
            <a:r>
              <a:rPr lang="pt-BR" sz="16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performace</a:t>
            </a:r>
            <a:r>
              <a:rPr lang="pt-BR" sz="16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 para C.O, </a:t>
            </a:r>
            <a:br>
              <a:rPr lang="pt-BR" sz="16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</a:br>
            <a:r>
              <a:rPr lang="pt-BR" sz="16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com análises majoritariamente descritivas, gerando dificuldade em identificar correlações, tendências e alavancas de impacto, além do tempo elevado para geração de insights e baixa padronização na leitura dos dados entre áreas. O desafio é </a:t>
            </a:r>
            <a:r>
              <a:rPr lang="pt-BR" sz="16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ultilizar</a:t>
            </a:r>
            <a:r>
              <a:rPr lang="pt-BR" sz="16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IA para gerar um </a:t>
            </a:r>
            <a:r>
              <a:rPr lang="pt-BR" sz="16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scorecard</a:t>
            </a:r>
            <a:r>
              <a:rPr lang="pt-BR" sz="16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inteligente, </a:t>
            </a:r>
            <a:r>
              <a:rPr lang="pt-BR" sz="16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automatico</a:t>
            </a:r>
            <a:r>
              <a:rPr lang="pt-BR" sz="16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e que traga sugestões de atuação.</a:t>
            </a:r>
            <a:endParaRPr lang="pt-BR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endParaRPr lang="pt-BR" sz="2400">
              <a:solidFill>
                <a:schemeClr val="bg2"/>
              </a:solidFill>
              <a:latin typeface="Calibri"/>
              <a:ea typeface="Calibri"/>
              <a:cs typeface="Calibri"/>
            </a:endParaRPr>
          </a:p>
          <a:p>
            <a:endParaRPr lang="pt-BR" sz="1100">
              <a:latin typeface="Segoe UI"/>
              <a:ea typeface="Calibri"/>
              <a:cs typeface="Segoe U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77D5DF8-1A66-E90C-4FA5-80C1EF81D350}"/>
              </a:ext>
            </a:extLst>
          </p:cNvPr>
          <p:cNvSpPr/>
          <p:nvPr/>
        </p:nvSpPr>
        <p:spPr>
          <a:xfrm>
            <a:off x="975360" y="2621280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DESAFIO</a:t>
            </a:r>
            <a:endParaRPr lang="pt-BR" sz="1867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03E1050-E6DF-89BD-B3F0-98ADCA0A0111}"/>
              </a:ext>
            </a:extLst>
          </p:cNvPr>
          <p:cNvSpPr/>
          <p:nvPr/>
        </p:nvSpPr>
        <p:spPr>
          <a:xfrm>
            <a:off x="975360" y="3169921"/>
            <a:ext cx="4815840" cy="2271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endParaRPr lang="pt-BR" sz="1100">
              <a:solidFill>
                <a:srgbClr val="AAAAAA"/>
              </a:solidFill>
              <a:latin typeface="Segoe UI"/>
              <a:ea typeface="Calibri"/>
              <a:cs typeface="Segoe UI"/>
            </a:endParaRPr>
          </a:p>
          <a:p>
            <a:pPr algn="just"/>
            <a:endParaRPr lang="pt-BR" sz="160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DE48839-9A5A-9645-C489-2A2F58124107}"/>
              </a:ext>
            </a:extLst>
          </p:cNvPr>
          <p:cNvSpPr/>
          <p:nvPr/>
        </p:nvSpPr>
        <p:spPr>
          <a:xfrm>
            <a:off x="6284685" y="1640116"/>
            <a:ext cx="5419635" cy="2641979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98AC2B2-95B9-EBCD-E0D5-6A8FF728D381}"/>
              </a:ext>
            </a:extLst>
          </p:cNvPr>
          <p:cNvSpPr/>
          <p:nvPr/>
        </p:nvSpPr>
        <p:spPr>
          <a:xfrm>
            <a:off x="6586583" y="1830251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SOLUÇÃO &amp; TOOL</a:t>
            </a:r>
            <a:endParaRPr lang="pt-BR" sz="1867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B925B56-F8DE-9066-19F8-14FA1F558832}"/>
              </a:ext>
            </a:extLst>
          </p:cNvPr>
          <p:cNvSpPr/>
          <p:nvPr/>
        </p:nvSpPr>
        <p:spPr>
          <a:xfrm>
            <a:off x="6586583" y="2263466"/>
            <a:ext cx="4815840" cy="90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pt-BR" sz="1600" b="1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Solução: </a:t>
            </a:r>
            <a:r>
              <a:rPr lang="pt-BR" sz="1300">
                <a:solidFill>
                  <a:srgbClr val="AAAAAA"/>
                </a:solidFill>
                <a:ea typeface="+mn-lt"/>
                <a:cs typeface="+mn-lt"/>
              </a:rPr>
              <a:t>Uso do "</a:t>
            </a:r>
            <a:r>
              <a:rPr lang="pt-BR" sz="1300" err="1">
                <a:solidFill>
                  <a:srgbClr val="AAAAAA"/>
                </a:solidFill>
                <a:ea typeface="+mn-lt"/>
                <a:cs typeface="+mn-lt"/>
              </a:rPr>
              <a:t>Analyst</a:t>
            </a:r>
            <a:r>
              <a:rPr lang="pt-BR" sz="1300">
                <a:solidFill>
                  <a:srgbClr val="AAAAAA"/>
                </a:solidFill>
                <a:ea typeface="+mn-lt"/>
                <a:cs typeface="+mn-lt"/>
              </a:rPr>
              <a:t>" para explorar o "score card" de forma avançada, identificando padrões, correlações e tendências automaticamente. Construção de análises orientadas a dados para responder perguntas-chave (</a:t>
            </a:r>
            <a:r>
              <a:rPr lang="pt-BR" sz="1300" err="1">
                <a:solidFill>
                  <a:srgbClr val="AAAAAA"/>
                </a:solidFill>
                <a:ea typeface="+mn-lt"/>
                <a:cs typeface="+mn-lt"/>
              </a:rPr>
              <a:t>ex</a:t>
            </a:r>
            <a:r>
              <a:rPr lang="pt-BR" sz="1300">
                <a:solidFill>
                  <a:srgbClr val="AAAAAA"/>
                </a:solidFill>
                <a:ea typeface="+mn-lt"/>
                <a:cs typeface="+mn-lt"/>
              </a:rPr>
              <a:t>: o que mais impacta o resultado? onde atuar?). Geração de visualizações e explicações que aceleram a interpretação e suportam tomada de decisão.</a:t>
            </a:r>
          </a:p>
          <a:p>
            <a:r>
              <a:rPr lang="pt-BR" sz="1600" b="1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Tool: </a:t>
            </a:r>
            <a:r>
              <a:rPr lang="pt-BR" sz="1400">
                <a:solidFill>
                  <a:srgbClr val="AAAAAA"/>
                </a:solidFill>
                <a:ea typeface="+mn-lt"/>
                <a:cs typeface="+mn-lt"/>
              </a:rPr>
              <a:t>Uso do "</a:t>
            </a:r>
            <a:r>
              <a:rPr lang="pt-BR" sz="1400" err="1">
                <a:solidFill>
                  <a:srgbClr val="AAAAAA"/>
                </a:solidFill>
                <a:ea typeface="+mn-lt"/>
                <a:cs typeface="+mn-lt"/>
              </a:rPr>
              <a:t>Analyst</a:t>
            </a:r>
            <a:r>
              <a:rPr lang="pt-BR" sz="1400">
                <a:solidFill>
                  <a:srgbClr val="AAAAAA"/>
                </a:solidFill>
                <a:ea typeface="+mn-lt"/>
                <a:cs typeface="+mn-lt"/>
              </a:rPr>
              <a:t>" para explorar o "score card" de forma avançada, identificando padrões, correlações e tendências automaticamente.</a:t>
            </a: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D0DE3EE2-C704-F63A-DC85-6DDD8EA1A823}"/>
              </a:ext>
            </a:extLst>
          </p:cNvPr>
          <p:cNvSpPr/>
          <p:nvPr/>
        </p:nvSpPr>
        <p:spPr>
          <a:xfrm>
            <a:off x="6284685" y="4334349"/>
            <a:ext cx="5419635" cy="1974323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CE8A3025-4998-BAAE-187E-C70DD869D6EA}"/>
              </a:ext>
            </a:extLst>
          </p:cNvPr>
          <p:cNvSpPr/>
          <p:nvPr/>
        </p:nvSpPr>
        <p:spPr>
          <a:xfrm>
            <a:off x="6644640" y="4582541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IMPACTO | 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Realization</a:t>
            </a:r>
            <a:endParaRPr lang="pt-BR" sz="1867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01DAA92-BFD8-E6BC-5F44-50FA929405BF}"/>
              </a:ext>
            </a:extLst>
          </p:cNvPr>
          <p:cNvSpPr/>
          <p:nvPr/>
        </p:nvSpPr>
        <p:spPr>
          <a:xfrm>
            <a:off x="6644640" y="5030346"/>
            <a:ext cx="4815840" cy="90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600">
                <a:solidFill>
                  <a:srgbClr val="FF0000"/>
                </a:solidFill>
                <a:ea typeface="+mn-lt"/>
                <a:cs typeface="+mn-lt"/>
              </a:rPr>
              <a:t>Identificação de variáveis com com os KPIs principais;</a:t>
            </a:r>
            <a:br>
              <a:rPr lang="pt-BR" sz="1600">
                <a:solidFill>
                  <a:srgbClr val="FF0000"/>
                </a:solidFill>
                <a:ea typeface="+mn-lt"/>
                <a:cs typeface="+mn-lt"/>
              </a:rPr>
            </a:br>
            <a:r>
              <a:rPr lang="pt-BR" sz="1600">
                <a:solidFill>
                  <a:srgbClr val="FF0000"/>
                </a:solidFill>
                <a:ea typeface="+mn-lt"/>
                <a:cs typeface="+mn-lt"/>
              </a:rPr>
              <a:t>Priorização baseada em drivers reais de performance;</a:t>
            </a:r>
            <a:br>
              <a:rPr lang="pt-BR" sz="1600">
                <a:solidFill>
                  <a:srgbClr val="FF0000"/>
                </a:solidFill>
                <a:ea typeface="+mn-lt"/>
                <a:cs typeface="+mn-lt"/>
              </a:rPr>
            </a:br>
            <a:r>
              <a:rPr lang="pt-BR" sz="1600">
                <a:solidFill>
                  <a:srgbClr val="FF0000"/>
                </a:solidFill>
                <a:ea typeface="+mn-lt"/>
                <a:cs typeface="+mn-lt"/>
              </a:rPr>
              <a:t>Redução do tempo para geração de insights</a:t>
            </a:r>
          </a:p>
          <a:p>
            <a:r>
              <a:rPr lang="pt-BR" sz="1600">
                <a:solidFill>
                  <a:srgbClr val="FF0000"/>
                </a:solidFill>
                <a:ea typeface="+mn-lt"/>
                <a:cs typeface="+mn-lt"/>
              </a:rPr>
              <a:t> (de horas/dias para minutos);</a:t>
            </a:r>
            <a:br>
              <a:rPr lang="pt-BR" sz="1600">
                <a:solidFill>
                  <a:srgbClr val="FF0000"/>
                </a:solidFill>
                <a:ea typeface="+mn-lt"/>
                <a:cs typeface="+mn-lt"/>
              </a:rPr>
            </a:br>
            <a:r>
              <a:rPr lang="pt-BR" sz="1600">
                <a:solidFill>
                  <a:srgbClr val="FF0000"/>
                </a:solidFill>
                <a:ea typeface="+mn-lt"/>
                <a:cs typeface="+mn-lt"/>
              </a:rPr>
              <a:t> Melhor qualidade na tomada de decisão.</a:t>
            </a:r>
            <a:endParaRPr lang="pt-BR" sz="160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1368CB65-76D3-8D8F-1816-A5E807300EC7}"/>
              </a:ext>
            </a:extLst>
          </p:cNvPr>
          <p:cNvSpPr/>
          <p:nvPr/>
        </p:nvSpPr>
        <p:spPr>
          <a:xfrm>
            <a:off x="975360" y="5569217"/>
            <a:ext cx="4815840" cy="435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Stakeholder </a:t>
            </a:r>
          </a:p>
          <a:p>
            <a:r>
              <a:rPr lang="pt-BR" sz="1600">
                <a:solidFill>
                  <a:srgbClr val="AAAAAA"/>
                </a:solidFill>
                <a:ea typeface="+mn-lt"/>
                <a:cs typeface="+mn-lt"/>
              </a:rPr>
              <a:t>Performance Insights Scorecard</a:t>
            </a:r>
            <a:endParaRPr lang="pt-BR"/>
          </a:p>
          <a:p>
            <a:r>
              <a:rPr lang="pt-BR" sz="1600">
                <a:solidFill>
                  <a:srgbClr val="AAAAAA"/>
                </a:solidFill>
                <a:ea typeface="Calibri"/>
                <a:cs typeface="Calibri"/>
              </a:rPr>
              <a:t> - </a:t>
            </a:r>
            <a:r>
              <a:rPr lang="pt-BR" sz="1600">
                <a:solidFill>
                  <a:srgbClr val="AAAAAA"/>
                </a:solidFill>
                <a:ea typeface="+mn-lt"/>
                <a:cs typeface="+mn-lt"/>
              </a:rPr>
              <a:t>Gabriela Coelho</a:t>
            </a:r>
            <a:endParaRPr lang="pt-BR"/>
          </a:p>
          <a:p>
            <a:endParaRPr lang="pt-BR" sz="1600">
              <a:solidFill>
                <a:srgbClr val="AAAAAA"/>
              </a:solidFill>
              <a:ea typeface="Calibri"/>
              <a:cs typeface="Calibri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055D93F1-4D46-DDB3-D20F-783D781D867F}"/>
              </a:ext>
            </a:extLst>
          </p:cNvPr>
          <p:cNvSpPr/>
          <p:nvPr/>
        </p:nvSpPr>
        <p:spPr>
          <a:xfrm>
            <a:off x="2823412" y="6305463"/>
            <a:ext cx="715477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51" b="1">
                <a:solidFill>
                  <a:srgbClr val="00FF41"/>
                </a:solidFill>
                <a:latin typeface="Consolas"/>
                <a:ea typeface="Consolas" pitchFamily="34" charset="-122"/>
                <a:cs typeface="Consolas" pitchFamily="34" charset="-120"/>
              </a:rPr>
              <a:t>Time-</a:t>
            </a:r>
            <a:r>
              <a:rPr lang="pt-BR" sz="1851" b="1" err="1">
                <a:solidFill>
                  <a:srgbClr val="00FF41"/>
                </a:solidFill>
                <a:latin typeface="Consolas"/>
                <a:ea typeface="Consolas" pitchFamily="34" charset="-122"/>
                <a:cs typeface="Consolas" pitchFamily="34" charset="-120"/>
              </a:rPr>
              <a:t>to</a:t>
            </a:r>
            <a:r>
              <a:rPr lang="pt-BR" sz="1851" b="1">
                <a:solidFill>
                  <a:srgbClr val="00FF41"/>
                </a:solidFill>
                <a:latin typeface="Consolas"/>
                <a:ea typeface="Consolas" pitchFamily="34" charset="-122"/>
                <a:cs typeface="Consolas" pitchFamily="34" charset="-120"/>
              </a:rPr>
              <a:t>-</a:t>
            </a:r>
            <a:r>
              <a:rPr lang="pt-BR" sz="1851" b="1" err="1">
                <a:solidFill>
                  <a:srgbClr val="00FF41"/>
                </a:solidFill>
                <a:latin typeface="Consolas"/>
                <a:ea typeface="Consolas" pitchFamily="34" charset="-122"/>
                <a:cs typeface="Consolas" pitchFamily="34" charset="-120"/>
              </a:rPr>
              <a:t>value</a:t>
            </a:r>
            <a:r>
              <a:rPr lang="pt-BR" sz="1851" b="1">
                <a:solidFill>
                  <a:srgbClr val="00FF41"/>
                </a:solidFill>
                <a:latin typeface="Consolas"/>
                <a:ea typeface="Consolas" pitchFamily="34" charset="-122"/>
                <a:cs typeface="Consolas" pitchFamily="34" charset="-120"/>
              </a:rPr>
              <a:t>: </a:t>
            </a:r>
            <a:r>
              <a:rPr lang="pt-BR" sz="1851">
                <a:solidFill>
                  <a:srgbClr val="FF0000"/>
                </a:solidFill>
                <a:ea typeface="+mn-lt"/>
                <a:cs typeface="+mn-lt"/>
              </a:rPr>
              <a:t>Imediato (insights já nas primeiras análises)</a:t>
            </a:r>
            <a:endParaRPr lang="pt-BR" sz="1851" b="1">
              <a:solidFill>
                <a:srgbClr val="FF0000"/>
              </a:solidFill>
              <a:highlight>
                <a:srgbClr val="FFFF00"/>
              </a:highlight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791539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6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 1  |  DATAHUB </a:t>
            </a:r>
            <a:endParaRPr lang="pt-BR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853440"/>
            <a:ext cx="114604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3000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</a:t>
            </a:r>
            <a:r>
              <a:rPr lang="pt-BR" sz="3000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</a:t>
            </a:r>
            <a:r>
              <a:rPr lang="pt-BR" sz="3000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pt-BR" sz="3000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</a:t>
            </a:r>
            <a:r>
              <a:rPr lang="pt-BR" sz="3000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transformando </a:t>
            </a:r>
            <a:r>
              <a:rPr lang="pt-BR" sz="3000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</a:t>
            </a:r>
            <a:r>
              <a:rPr lang="pt-BR" sz="3000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-out em ação semanal</a:t>
            </a:r>
            <a:endParaRPr lang="pt-BR" sz="300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733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Bruna Angelini  |  5 minutos</a:t>
            </a:r>
            <a:endParaRPr lang="pt-BR" sz="1733"/>
          </a:p>
        </p:txBody>
      </p:sp>
      <p:sp>
        <p:nvSpPr>
          <p:cNvPr id="5" name="Shape 3"/>
          <p:cNvSpPr/>
          <p:nvPr/>
        </p:nvSpPr>
        <p:spPr>
          <a:xfrm>
            <a:off x="731520" y="2438401"/>
            <a:ext cx="5303520" cy="3739643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6" name="Text 4"/>
          <p:cNvSpPr/>
          <p:nvPr/>
        </p:nvSpPr>
        <p:spPr>
          <a:xfrm>
            <a:off x="975360" y="2621280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DESAFIO</a:t>
            </a:r>
            <a:endParaRPr lang="pt-BR" sz="1867"/>
          </a:p>
        </p:txBody>
      </p:sp>
      <p:sp>
        <p:nvSpPr>
          <p:cNvPr id="7" name="Text 5"/>
          <p:cNvSpPr/>
          <p:nvPr/>
        </p:nvSpPr>
        <p:spPr>
          <a:xfrm>
            <a:off x="975360" y="3169921"/>
            <a:ext cx="4815840" cy="2271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pt-BR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semanal de </a:t>
            </a:r>
            <a:r>
              <a:rPr lang="pt-BR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-out, compartilhado com toda a liderança de PC, exigia análise manual de um material extenso e fragmentado, tornando lenta a geração de insights claros e acionáveis para o negócio.</a:t>
            </a:r>
            <a:endParaRPr lang="pt-BR" sz="1600"/>
          </a:p>
        </p:txBody>
      </p:sp>
      <p:sp>
        <p:nvSpPr>
          <p:cNvPr id="8" name="Shape 6"/>
          <p:cNvSpPr/>
          <p:nvPr/>
        </p:nvSpPr>
        <p:spPr>
          <a:xfrm>
            <a:off x="6400800" y="2438400"/>
            <a:ext cx="5303520" cy="1778381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9" name="Text 7"/>
          <p:cNvSpPr/>
          <p:nvPr/>
        </p:nvSpPr>
        <p:spPr>
          <a:xfrm>
            <a:off x="6644640" y="2621280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SOLUÇÃO &amp; TOOL</a:t>
            </a:r>
            <a:endParaRPr lang="pt-BR" sz="1867"/>
          </a:p>
        </p:txBody>
      </p:sp>
      <p:sp>
        <p:nvSpPr>
          <p:cNvPr id="10" name="Text 8"/>
          <p:cNvSpPr/>
          <p:nvPr/>
        </p:nvSpPr>
        <p:spPr>
          <a:xfrm>
            <a:off x="6644640" y="3169922"/>
            <a:ext cx="4815840" cy="90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Utilizamos o </a:t>
            </a:r>
            <a:r>
              <a:rPr lang="pt-BR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transformar automaticamente o </a:t>
            </a:r>
            <a:r>
              <a:rPr lang="pt-BR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insights estruturados, resumos executivos e comparações semana a semana, garantindo consistência e velocidade na comunicação.</a:t>
            </a:r>
            <a:endParaRPr lang="pt-BR" sz="160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E2D156C6-E8C9-ACE7-0B80-C7398E328DBD}"/>
              </a:ext>
            </a:extLst>
          </p:cNvPr>
          <p:cNvSpPr/>
          <p:nvPr/>
        </p:nvSpPr>
        <p:spPr>
          <a:xfrm>
            <a:off x="6400800" y="4399663"/>
            <a:ext cx="5303520" cy="1778381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A44E3BBA-170E-4382-6901-49555B387CD7}"/>
              </a:ext>
            </a:extLst>
          </p:cNvPr>
          <p:cNvSpPr/>
          <p:nvPr/>
        </p:nvSpPr>
        <p:spPr>
          <a:xfrm>
            <a:off x="6644640" y="4582541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IMPACTO | 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Realization</a:t>
            </a:r>
            <a:endParaRPr lang="pt-BR" sz="1867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E32D289-860B-1667-75FB-3E4447CE1EB0}"/>
              </a:ext>
            </a:extLst>
          </p:cNvPr>
          <p:cNvSpPr/>
          <p:nvPr/>
        </p:nvSpPr>
        <p:spPr>
          <a:xfrm>
            <a:off x="6644640" y="5131183"/>
            <a:ext cx="4815840" cy="90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Reduzimos significativamente o tempo de análise, aceleramos o envio para a liderança e aumentamos a velocidade e qualidade da tomada de decisão, com maior foco nos principais drivers e mudanças relevantes.</a:t>
            </a:r>
            <a:endParaRPr lang="pt-BR" sz="160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4FE530EE-63C2-5A03-AA29-BD4597CC1A0D}"/>
              </a:ext>
            </a:extLst>
          </p:cNvPr>
          <p:cNvSpPr/>
          <p:nvPr/>
        </p:nvSpPr>
        <p:spPr>
          <a:xfrm>
            <a:off x="975360" y="5569215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Stakeholder </a:t>
            </a:r>
          </a:p>
          <a:p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de PC, Liderança (</a:t>
            </a:r>
            <a:r>
              <a:rPr lang="pt-BR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Diretores), Trade e </a:t>
            </a:r>
            <a:r>
              <a:rPr lang="pt-BR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pt-BR" sz="1867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2A75D679-5F72-36F5-E08B-CC3758092546}"/>
              </a:ext>
            </a:extLst>
          </p:cNvPr>
          <p:cNvSpPr/>
          <p:nvPr/>
        </p:nvSpPr>
        <p:spPr>
          <a:xfrm>
            <a:off x="2130164" y="6305463"/>
            <a:ext cx="7931675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Time-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rápida, com ganhos percebidos já na primeira semana.</a:t>
            </a:r>
            <a:endParaRPr lang="pt-BR" sz="1867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1F914-8190-8BCE-75ED-3358B4366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3C699B-BADC-7FF3-4652-0208235FFCC2}"/>
              </a:ext>
            </a:extLst>
          </p:cNvPr>
          <p:cNvSpPr/>
          <p:nvPr/>
        </p:nvSpPr>
        <p:spPr>
          <a:xfrm>
            <a:off x="731520" y="36576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6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 2  |  DATAHUB </a:t>
            </a:r>
            <a:endParaRPr lang="pt-BR" sz="1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DE8136-366E-0EEB-6256-56FF76B0A4E0}"/>
              </a:ext>
            </a:extLst>
          </p:cNvPr>
          <p:cNvSpPr/>
          <p:nvPr/>
        </p:nvSpPr>
        <p:spPr>
          <a:xfrm>
            <a:off x="731520" y="853440"/>
            <a:ext cx="114604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3000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 na gestão de risco da campanha FIFA</a:t>
            </a:r>
            <a:endParaRPr lang="pt-BR" sz="3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C52D730-734C-A26D-D435-B0A61FF8913F}"/>
              </a:ext>
            </a:extLst>
          </p:cNvPr>
          <p:cNvSpPr/>
          <p:nvPr/>
        </p:nvSpPr>
        <p:spPr>
          <a:xfrm>
            <a:off x="731520" y="164592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733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Jéssica Caldato  |  5 minutos</a:t>
            </a:r>
            <a:endParaRPr lang="pt-BR" sz="1733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41F520B-68E7-B288-72C7-9AC6EA49806B}"/>
              </a:ext>
            </a:extLst>
          </p:cNvPr>
          <p:cNvSpPr/>
          <p:nvPr/>
        </p:nvSpPr>
        <p:spPr>
          <a:xfrm>
            <a:off x="731520" y="2438401"/>
            <a:ext cx="5303520" cy="3739643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AA756DC-D383-7DAF-E74D-4A75F8BEB958}"/>
              </a:ext>
            </a:extLst>
          </p:cNvPr>
          <p:cNvSpPr/>
          <p:nvPr/>
        </p:nvSpPr>
        <p:spPr>
          <a:xfrm>
            <a:off x="975360" y="2621280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DESAFIO</a:t>
            </a:r>
            <a:endParaRPr lang="pt-BR" sz="1867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C7978E4-D16B-B079-2656-0971E506682A}"/>
              </a:ext>
            </a:extLst>
          </p:cNvPr>
          <p:cNvSpPr/>
          <p:nvPr/>
        </p:nvSpPr>
        <p:spPr>
          <a:xfrm>
            <a:off x="975360" y="3169921"/>
            <a:ext cx="4815840" cy="2271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campanha FIFA 2026 de Rexona e Dove, precisávamos definir quais </a:t>
            </a:r>
            <a:r>
              <a:rPr lang="pt-BR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EANs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participariam da ação promocional considerando diferentes níveis de estoque em cada cliente. A decisão precisava equilibrar dois riscos: baixa disponibilidade do produto promocional em clientes com necessidade de reposição ou excesso de estoque dos produtos regulares que pudesse comprometer a execução da campanha.</a:t>
            </a:r>
            <a:endParaRPr lang="pt-BR" sz="1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A4A4E6F-B38B-23C9-2241-C523CE2ED653}"/>
              </a:ext>
            </a:extLst>
          </p:cNvPr>
          <p:cNvSpPr/>
          <p:nvPr/>
        </p:nvSpPr>
        <p:spPr>
          <a:xfrm>
            <a:off x="6400800" y="2438400"/>
            <a:ext cx="5303520" cy="1778381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AC64ADE-14DE-D0CD-C0F9-1A0CBE196F5C}"/>
              </a:ext>
            </a:extLst>
          </p:cNvPr>
          <p:cNvSpPr/>
          <p:nvPr/>
        </p:nvSpPr>
        <p:spPr>
          <a:xfrm>
            <a:off x="6644640" y="2523307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SOLUÇÃO &amp; TOOL</a:t>
            </a:r>
            <a:endParaRPr lang="pt-BR" sz="1867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2105BBE-78D3-B235-12EC-744276E000EF}"/>
              </a:ext>
            </a:extLst>
          </p:cNvPr>
          <p:cNvSpPr/>
          <p:nvPr/>
        </p:nvSpPr>
        <p:spPr>
          <a:xfrm>
            <a:off x="6644640" y="2963094"/>
            <a:ext cx="4815840" cy="90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do tempo de análise e maior agilidade na definição do portfólio promocional, minimizando riscos de ruptura e excesso de estoque.</a:t>
            </a:r>
            <a:endParaRPr lang="pt-BR" sz="160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5A669B52-7CB4-78B7-155E-5EDC411C24AD}"/>
              </a:ext>
            </a:extLst>
          </p:cNvPr>
          <p:cNvSpPr/>
          <p:nvPr/>
        </p:nvSpPr>
        <p:spPr>
          <a:xfrm>
            <a:off x="6400800" y="4399663"/>
            <a:ext cx="5303520" cy="1778381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E55E768D-55B7-D81D-A7FC-4A6990E0788F}"/>
              </a:ext>
            </a:extLst>
          </p:cNvPr>
          <p:cNvSpPr/>
          <p:nvPr/>
        </p:nvSpPr>
        <p:spPr>
          <a:xfrm>
            <a:off x="6644640" y="4582541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IMPACTO | 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Realization</a:t>
            </a:r>
            <a:endParaRPr lang="pt-BR" sz="1867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72CD21FC-9480-96FD-23FD-DE8D6BF27729}"/>
              </a:ext>
            </a:extLst>
          </p:cNvPr>
          <p:cNvSpPr/>
          <p:nvPr/>
        </p:nvSpPr>
        <p:spPr>
          <a:xfrm>
            <a:off x="6644640" y="5131183"/>
            <a:ext cx="4815840" cy="90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uso do </a:t>
            </a:r>
            <a:r>
              <a:rPr lang="pt-BR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reduziu significativamente o tempo dedicado aos cruzamentos e análises manuais, permitindo que o</a:t>
            </a:r>
            <a:endParaRPr lang="pt-BR" sz="160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EA247F15-1150-1398-8A48-4E53643E52AC}"/>
              </a:ext>
            </a:extLst>
          </p:cNvPr>
          <p:cNvSpPr/>
          <p:nvPr/>
        </p:nvSpPr>
        <p:spPr>
          <a:xfrm>
            <a:off x="975360" y="5569215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Stakeholder </a:t>
            </a:r>
          </a:p>
          <a:p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PC – Categoria Deos</a:t>
            </a:r>
            <a:endParaRPr lang="pt-BR" sz="1867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2947E3B8-BA4C-6D36-9DEC-34D9846DA503}"/>
              </a:ext>
            </a:extLst>
          </p:cNvPr>
          <p:cNvSpPr/>
          <p:nvPr/>
        </p:nvSpPr>
        <p:spPr>
          <a:xfrm>
            <a:off x="2130163" y="6305463"/>
            <a:ext cx="9108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Time-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Imediato, com aplicação direta no planejamento e execução da campanha FIFA 2026.</a:t>
            </a:r>
            <a:endParaRPr lang="pt-BR" sz="1867"/>
          </a:p>
        </p:txBody>
      </p:sp>
    </p:spTree>
    <p:extLst>
      <p:ext uri="{BB962C8B-B14F-4D97-AF65-F5344CB8AC3E}">
        <p14:creationId xmlns:p14="http://schemas.microsoft.com/office/powerpoint/2010/main" val="3930451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EDA21-45E1-3DE3-46D7-1F02B4F00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7B7E3A-A22A-8E69-8833-1088132AB12B}"/>
              </a:ext>
            </a:extLst>
          </p:cNvPr>
          <p:cNvSpPr/>
          <p:nvPr/>
        </p:nvSpPr>
        <p:spPr>
          <a:xfrm>
            <a:off x="731520" y="36576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6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 3  |  DATAHUB </a:t>
            </a:r>
            <a:endParaRPr lang="pt-BR" sz="1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E2649D-AEA0-31CF-6561-FC39A4EBA36D}"/>
              </a:ext>
            </a:extLst>
          </p:cNvPr>
          <p:cNvSpPr/>
          <p:nvPr/>
        </p:nvSpPr>
        <p:spPr>
          <a:xfrm>
            <a:off x="731520" y="853440"/>
            <a:ext cx="114604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3000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 como copiloto técnico: acelerando análises, desenvolvimento e tomada de decisão</a:t>
            </a:r>
            <a:endParaRPr lang="pt-BR" sz="3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3AD8A60-2846-4BBE-AE53-168EBAA85540}"/>
              </a:ext>
            </a:extLst>
          </p:cNvPr>
          <p:cNvSpPr/>
          <p:nvPr/>
        </p:nvSpPr>
        <p:spPr>
          <a:xfrm>
            <a:off x="731520" y="164592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733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Jéssica Caldato  |  5 minutos</a:t>
            </a:r>
            <a:endParaRPr lang="pt-BR" sz="1733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719DC42-F6D0-8656-C3ED-FF1DBD1702F9}"/>
              </a:ext>
            </a:extLst>
          </p:cNvPr>
          <p:cNvSpPr/>
          <p:nvPr/>
        </p:nvSpPr>
        <p:spPr>
          <a:xfrm>
            <a:off x="731520" y="2438401"/>
            <a:ext cx="5303520" cy="3739643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FC0D272-6782-C9A6-1CF4-92CD9E102561}"/>
              </a:ext>
            </a:extLst>
          </p:cNvPr>
          <p:cNvSpPr/>
          <p:nvPr/>
        </p:nvSpPr>
        <p:spPr>
          <a:xfrm>
            <a:off x="975360" y="2621280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DESAFIO</a:t>
            </a:r>
            <a:endParaRPr lang="pt-BR" sz="1867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644D080-87D7-FF05-39A4-CD33F5ACC779}"/>
              </a:ext>
            </a:extLst>
          </p:cNvPr>
          <p:cNvSpPr/>
          <p:nvPr/>
        </p:nvSpPr>
        <p:spPr>
          <a:xfrm>
            <a:off x="975360" y="3169921"/>
            <a:ext cx="4815840" cy="2271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área de </a:t>
            </a:r>
            <a:r>
              <a:rPr lang="pt-BR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lida diariamente com desafios técnicos e analíticos, desde desenvolvimento de códigos em </a:t>
            </a:r>
            <a:r>
              <a:rPr lang="pt-BR" sz="1600" b="1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Power BI até análises avançadas para suportar decisões de negócio. Muitas dessas atividades demandam tempo para pesquisa, desenvolvimento e validação.</a:t>
            </a:r>
            <a:endParaRPr lang="pt-BR" sz="1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1BEDFC3-6A55-C21F-3DCF-ACBD86E0001C}"/>
              </a:ext>
            </a:extLst>
          </p:cNvPr>
          <p:cNvSpPr/>
          <p:nvPr/>
        </p:nvSpPr>
        <p:spPr>
          <a:xfrm>
            <a:off x="6400800" y="2438400"/>
            <a:ext cx="5303520" cy="1778381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DA35C4C-04E0-E02E-21F6-312FAC4335E7}"/>
              </a:ext>
            </a:extLst>
          </p:cNvPr>
          <p:cNvSpPr/>
          <p:nvPr/>
        </p:nvSpPr>
        <p:spPr>
          <a:xfrm>
            <a:off x="6644640" y="2512420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SOLUÇÃO &amp; TOOL</a:t>
            </a:r>
            <a:endParaRPr lang="pt-BR" sz="1867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F9EA206-A3DE-98C8-B7CD-0CD26F156C18}"/>
              </a:ext>
            </a:extLst>
          </p:cNvPr>
          <p:cNvSpPr/>
          <p:nvPr/>
        </p:nvSpPr>
        <p:spPr>
          <a:xfrm>
            <a:off x="6644640" y="2963093"/>
            <a:ext cx="4815840" cy="130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Utilizamos </a:t>
            </a:r>
            <a:r>
              <a:rPr lang="pt-BR" sz="1600" b="1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pt-BR" sz="1600" b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Gemini 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acelerar análises, apoiar o desenvolvimento de códigos e validar dados. As ferramentas ajudam o time a ganhar velocidade, aumentar a robustez dos processos e resolver desafios técnicos do dia a dia.</a:t>
            </a:r>
            <a:endParaRPr lang="pt-BR" sz="160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E9D40BE3-756B-2FEE-C32F-8AF6AADAB1DA}"/>
              </a:ext>
            </a:extLst>
          </p:cNvPr>
          <p:cNvSpPr/>
          <p:nvPr/>
        </p:nvSpPr>
        <p:spPr>
          <a:xfrm>
            <a:off x="6400800" y="4399663"/>
            <a:ext cx="5303520" cy="1778381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DA1E5448-81F8-6F5E-826F-F66009CEFCDE}"/>
              </a:ext>
            </a:extLst>
          </p:cNvPr>
          <p:cNvSpPr/>
          <p:nvPr/>
        </p:nvSpPr>
        <p:spPr>
          <a:xfrm>
            <a:off x="6644640" y="4582541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IMPACTO | 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Realization</a:t>
            </a:r>
            <a:endParaRPr lang="pt-BR" sz="1867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E49D30BD-33B2-3235-5E2F-CF594CFFF9D0}"/>
              </a:ext>
            </a:extLst>
          </p:cNvPr>
          <p:cNvSpPr/>
          <p:nvPr/>
        </p:nvSpPr>
        <p:spPr>
          <a:xfrm>
            <a:off x="6644640" y="5131183"/>
            <a:ext cx="4815840" cy="90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agilidade na execução das atividades, processos mais robustos e maior produtividade do time técnico, permitindo foco nas análises e recomendações de maior valor para o negócio.</a:t>
            </a:r>
            <a:endParaRPr lang="pt-BR" sz="160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D61F0E86-BC67-3D9E-4689-BE860BA3D76E}"/>
              </a:ext>
            </a:extLst>
          </p:cNvPr>
          <p:cNvSpPr/>
          <p:nvPr/>
        </p:nvSpPr>
        <p:spPr>
          <a:xfrm>
            <a:off x="975360" y="5569215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Stakeholder </a:t>
            </a:r>
          </a:p>
          <a:p>
            <a:r>
              <a:rPr lang="pt-BR" sz="16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867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683A4684-5841-587D-82A4-66168831FA30}"/>
              </a:ext>
            </a:extLst>
          </p:cNvPr>
          <p:cNvSpPr/>
          <p:nvPr/>
        </p:nvSpPr>
        <p:spPr>
          <a:xfrm>
            <a:off x="2130164" y="6305463"/>
            <a:ext cx="7931675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Time-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Imediato, com aplicação contínua nas atividades diárias do time.</a:t>
            </a:r>
            <a:endParaRPr lang="pt-BR" sz="1867"/>
          </a:p>
        </p:txBody>
      </p:sp>
    </p:spTree>
    <p:extLst>
      <p:ext uri="{BB962C8B-B14F-4D97-AF65-F5344CB8AC3E}">
        <p14:creationId xmlns:p14="http://schemas.microsoft.com/office/powerpoint/2010/main" val="2298556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6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4 |  DATAHUB </a:t>
            </a:r>
            <a:endParaRPr lang="pt-BR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85344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3733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Projeções de Mercado</a:t>
            </a:r>
            <a:endParaRPr lang="pt-BR" sz="3733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733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Beatriz Amaral  |  5 minutos</a:t>
            </a:r>
            <a:endParaRPr lang="pt-BR" sz="1733"/>
          </a:p>
        </p:txBody>
      </p:sp>
      <p:sp>
        <p:nvSpPr>
          <p:cNvPr id="5" name="Shape 3"/>
          <p:cNvSpPr/>
          <p:nvPr/>
        </p:nvSpPr>
        <p:spPr>
          <a:xfrm>
            <a:off x="1123407" y="2438401"/>
            <a:ext cx="5303520" cy="3739643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 sz="2400"/>
          </a:p>
        </p:txBody>
      </p:sp>
      <p:sp>
        <p:nvSpPr>
          <p:cNvPr id="6" name="Text 4"/>
          <p:cNvSpPr/>
          <p:nvPr/>
        </p:nvSpPr>
        <p:spPr>
          <a:xfrm>
            <a:off x="879567" y="2252999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DESAFIO</a:t>
            </a:r>
            <a:endParaRPr lang="pt-BR" sz="1867"/>
          </a:p>
        </p:txBody>
      </p:sp>
      <p:sp>
        <p:nvSpPr>
          <p:cNvPr id="7" name="Text 5"/>
          <p:cNvSpPr/>
          <p:nvPr/>
        </p:nvSpPr>
        <p:spPr>
          <a:xfrm>
            <a:off x="879565" y="2801641"/>
            <a:ext cx="4417200" cy="1598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600">
                <a:solidFill>
                  <a:srgbClr val="318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Acertar com o menor erro possível a projeção de vendas dos produtos Unilever para que a fábrica seja capaz de produzir o necessário ou realocar esforços. </a:t>
            </a:r>
          </a:p>
          <a:p>
            <a:endParaRPr lang="pt-BR" sz="1600">
              <a:solidFill>
                <a:srgbClr val="31859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pt-BR" sz="1600">
                <a:solidFill>
                  <a:srgbClr val="318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como o mercado está e o que impacta esse número para que o time estratégico possa atuar de forma rápida e minimizar impacto.</a:t>
            </a:r>
            <a:endParaRPr lang="pt-BR" sz="1600">
              <a:solidFill>
                <a:srgbClr val="31859C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0" y="2438400"/>
            <a:ext cx="5303520" cy="1778381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 sz="2400"/>
          </a:p>
        </p:txBody>
      </p:sp>
      <p:sp>
        <p:nvSpPr>
          <p:cNvPr id="9" name="Text 7"/>
          <p:cNvSpPr/>
          <p:nvPr/>
        </p:nvSpPr>
        <p:spPr>
          <a:xfrm>
            <a:off x="6241868" y="2250021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SOLUÇÃO &amp; TOOL</a:t>
            </a:r>
            <a:endParaRPr lang="pt-BR" sz="1867"/>
          </a:p>
        </p:txBody>
      </p:sp>
      <p:sp>
        <p:nvSpPr>
          <p:cNvPr id="10" name="Text 8"/>
          <p:cNvSpPr/>
          <p:nvPr/>
        </p:nvSpPr>
        <p:spPr>
          <a:xfrm>
            <a:off x="6241869" y="2872911"/>
            <a:ext cx="4415247" cy="90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600">
                <a:solidFill>
                  <a:srgbClr val="318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de vendas utilizando Séries Temporais que inclui variáveis exógenas. Esse algoritmo complexo foi feito em Linguagem R.</a:t>
            </a: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E2D156C6-E8C9-ACE7-0B80-C7398E328DBD}"/>
              </a:ext>
            </a:extLst>
          </p:cNvPr>
          <p:cNvSpPr/>
          <p:nvPr/>
        </p:nvSpPr>
        <p:spPr>
          <a:xfrm>
            <a:off x="6400800" y="4399663"/>
            <a:ext cx="5303520" cy="1778381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 sz="240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A44E3BBA-170E-4382-6901-49555B387CD7}"/>
              </a:ext>
            </a:extLst>
          </p:cNvPr>
          <p:cNvSpPr/>
          <p:nvPr/>
        </p:nvSpPr>
        <p:spPr>
          <a:xfrm>
            <a:off x="6241868" y="3932951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IMPACTO | 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Realization</a:t>
            </a:r>
            <a:endParaRPr lang="pt-BR" sz="1867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4FE530EE-63C2-5A03-AA29-BD4597CC1A0D}"/>
              </a:ext>
            </a:extLst>
          </p:cNvPr>
          <p:cNvSpPr/>
          <p:nvPr/>
        </p:nvSpPr>
        <p:spPr>
          <a:xfrm>
            <a:off x="879567" y="5920079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Stakeholder </a:t>
            </a:r>
          </a:p>
          <a:p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 negócio – CSP Performance </a:t>
            </a:r>
            <a:endParaRPr lang="pt-BR" sz="1867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2A75D679-5F72-36F5-E08B-CC3758092546}"/>
              </a:ext>
            </a:extLst>
          </p:cNvPr>
          <p:cNvSpPr/>
          <p:nvPr/>
        </p:nvSpPr>
        <p:spPr>
          <a:xfrm>
            <a:off x="6241869" y="5950559"/>
            <a:ext cx="715477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Time-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pt-BR" sz="1600" b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 e constante evolução</a:t>
            </a:r>
            <a:endParaRPr lang="pt-BR" sz="1867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4100D4C6-77E8-96CC-180F-6CCA40638881}"/>
              </a:ext>
            </a:extLst>
          </p:cNvPr>
          <p:cNvSpPr/>
          <p:nvPr/>
        </p:nvSpPr>
        <p:spPr>
          <a:xfrm>
            <a:off x="6241869" y="4548053"/>
            <a:ext cx="4415247" cy="90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600">
                <a:solidFill>
                  <a:srgbClr val="318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mais eficiente alinhado com o financeiro, além de decisões mais assertivas e rápidas, visando a economia de custos e otimização de margem.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E7FFDD5-D633-0BAF-DD98-606E430236E9}"/>
              </a:ext>
            </a:extLst>
          </p:cNvPr>
          <p:cNvSpPr/>
          <p:nvPr/>
        </p:nvSpPr>
        <p:spPr>
          <a:xfrm>
            <a:off x="740706" y="2194560"/>
            <a:ext cx="4815839" cy="2431869"/>
          </a:xfrm>
          <a:prstGeom prst="rect">
            <a:avLst/>
          </a:prstGeom>
          <a:noFill/>
          <a:ln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3EDE704-11B0-2571-5CB2-957D5D1B9BF3}"/>
              </a:ext>
            </a:extLst>
          </p:cNvPr>
          <p:cNvSpPr/>
          <p:nvPr/>
        </p:nvSpPr>
        <p:spPr>
          <a:xfrm>
            <a:off x="5998030" y="2194560"/>
            <a:ext cx="4815839" cy="3247235"/>
          </a:xfrm>
          <a:prstGeom prst="rect">
            <a:avLst/>
          </a:prstGeom>
          <a:noFill/>
          <a:ln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27BB5-2CA7-EC18-4646-CC1B102EE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D497499-41C3-0B68-FAA5-0FC1AD7F7519}"/>
              </a:ext>
            </a:extLst>
          </p:cNvPr>
          <p:cNvSpPr/>
          <p:nvPr/>
        </p:nvSpPr>
        <p:spPr>
          <a:xfrm>
            <a:off x="731520" y="36576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6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 1  |  STRATEGY </a:t>
            </a:r>
            <a:endParaRPr lang="pt-BR" sz="1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1E4EDE-B19D-FD5D-9F6A-194133682F4F}"/>
              </a:ext>
            </a:extLst>
          </p:cNvPr>
          <p:cNvSpPr/>
          <p:nvPr/>
        </p:nvSpPr>
        <p:spPr>
          <a:xfrm>
            <a:off x="731520" y="85344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3733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AURA (AI </a:t>
            </a:r>
            <a:r>
              <a:rPr lang="pt-BR" sz="3733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Unified</a:t>
            </a:r>
            <a:r>
              <a:rPr lang="pt-BR" sz="3733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pt-BR" sz="3733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Reporting</a:t>
            </a:r>
            <a:r>
              <a:rPr lang="pt-BR" sz="3733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Agent)</a:t>
            </a:r>
            <a:endParaRPr lang="pt-BR" sz="3733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E803DDC-F073-1805-B8FA-F5CB11BA7464}"/>
              </a:ext>
            </a:extLst>
          </p:cNvPr>
          <p:cNvSpPr/>
          <p:nvPr/>
        </p:nvSpPr>
        <p:spPr>
          <a:xfrm>
            <a:off x="731520" y="164592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733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Kuhnast</a:t>
            </a:r>
            <a:r>
              <a:rPr lang="pt-BR" sz="1733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5 minutos</a:t>
            </a:r>
            <a:endParaRPr lang="pt-BR" sz="1733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22EC88A-7060-2CE3-06D5-D9C1178EAF24}"/>
              </a:ext>
            </a:extLst>
          </p:cNvPr>
          <p:cNvSpPr/>
          <p:nvPr/>
        </p:nvSpPr>
        <p:spPr>
          <a:xfrm>
            <a:off x="731520" y="2438400"/>
            <a:ext cx="5303520" cy="3739643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0291B1D-6688-54A7-9281-86C0836BA9AD}"/>
              </a:ext>
            </a:extLst>
          </p:cNvPr>
          <p:cNvSpPr/>
          <p:nvPr/>
        </p:nvSpPr>
        <p:spPr>
          <a:xfrm>
            <a:off x="975360" y="2512420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DESAFIO</a:t>
            </a:r>
            <a:endParaRPr lang="pt-BR" sz="1867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F91B2ED-93EC-FBAA-539C-6DB356205EB6}"/>
              </a:ext>
            </a:extLst>
          </p:cNvPr>
          <p:cNvSpPr/>
          <p:nvPr/>
        </p:nvSpPr>
        <p:spPr>
          <a:xfrm>
            <a:off x="975359" y="2952200"/>
            <a:ext cx="4924697" cy="2617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Hoje, a informação de portfólio está dispersa entre </a:t>
            </a:r>
            <a:r>
              <a:rPr lang="pt-BR" sz="15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r>
              <a:rPr lang="pt-BR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pt-BR" sz="15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r>
              <a:rPr lang="pt-BR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pt-BR" sz="15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e-mails</a:t>
            </a:r>
            <a:r>
              <a:rPr lang="pt-BR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pt-BR" sz="15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r>
              <a:rPr lang="pt-BR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Gerando </a:t>
            </a:r>
            <a:r>
              <a:rPr lang="pt-BR" sz="15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de tempo</a:t>
            </a:r>
            <a:r>
              <a:rPr lang="pt-BR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pt-BR" sz="15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retrabalho</a:t>
            </a:r>
            <a:r>
              <a:rPr lang="pt-BR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pt-BR" sz="15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lentas e forte dependência das lideranças</a:t>
            </a:r>
            <a:r>
              <a:rPr lang="pt-BR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responder perguntas que deveriam ser resolvidas em segundos.</a:t>
            </a:r>
          </a:p>
          <a:p>
            <a:r>
              <a:rPr lang="pt-BR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Nossos times investem tempo buscando dados, respondendo dúvidas repetitivas e construindo reportes manualmente, enquanto o negócio e nossos stakeholders exigem </a:t>
            </a:r>
            <a:r>
              <a:rPr lang="pt-BR" sz="15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AGILIDADE</a:t>
            </a:r>
            <a:r>
              <a:rPr lang="pt-BR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pt-BR" sz="15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r>
              <a:rPr lang="pt-BR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pt-BR" sz="15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</a:t>
            </a:r>
            <a:r>
              <a:rPr lang="pt-BR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entrega de informação estratégica.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EE60B4F-92AA-7E8F-2CDD-E59AE01245B5}"/>
              </a:ext>
            </a:extLst>
          </p:cNvPr>
          <p:cNvSpPr/>
          <p:nvPr/>
        </p:nvSpPr>
        <p:spPr>
          <a:xfrm>
            <a:off x="6400800" y="2438400"/>
            <a:ext cx="5303520" cy="1778381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361A5BF-C5A3-D40D-A905-04363841EE96}"/>
              </a:ext>
            </a:extLst>
          </p:cNvPr>
          <p:cNvSpPr/>
          <p:nvPr/>
        </p:nvSpPr>
        <p:spPr>
          <a:xfrm>
            <a:off x="6644640" y="2512420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SOLUÇÃO &amp; TOOL</a:t>
            </a:r>
            <a:endParaRPr lang="pt-BR" sz="1867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A304A7D7-DC7B-DE51-7B29-4E8327A0A3A5}"/>
              </a:ext>
            </a:extLst>
          </p:cNvPr>
          <p:cNvSpPr/>
          <p:nvPr/>
        </p:nvSpPr>
        <p:spPr>
          <a:xfrm>
            <a:off x="6400800" y="4399662"/>
            <a:ext cx="5303520" cy="1778381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54EA172-DE1A-1D96-5BA8-1F4F67356BBD}"/>
              </a:ext>
            </a:extLst>
          </p:cNvPr>
          <p:cNvSpPr/>
          <p:nvPr/>
        </p:nvSpPr>
        <p:spPr>
          <a:xfrm>
            <a:off x="6644640" y="4528111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IMPACTO | 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Realization</a:t>
            </a:r>
            <a:endParaRPr lang="pt-BR" sz="1867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4F71FB4-E053-91F4-4E11-71A82E278481}"/>
              </a:ext>
            </a:extLst>
          </p:cNvPr>
          <p:cNvSpPr/>
          <p:nvPr/>
        </p:nvSpPr>
        <p:spPr>
          <a:xfrm>
            <a:off x="6644640" y="4989665"/>
            <a:ext cx="4815840" cy="115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400" b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Produtividade: +</a:t>
            </a:r>
            <a:r>
              <a:rPr lang="pt-BR" b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 24h/mês</a:t>
            </a:r>
            <a:endParaRPr lang="pt-BR" sz="1400" dirty="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pt-BR" sz="1400" b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Escalabilidade: </a:t>
            </a:r>
            <a:r>
              <a:rPr lang="pt-BR" sz="14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4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r>
              <a:rPr lang="pt-BR" sz="14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4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</a:t>
            </a:r>
            <a:endParaRPr lang="pt-BR" sz="1400" b="1" dirty="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pt-BR" sz="14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Especialização: </a:t>
            </a:r>
            <a:r>
              <a:rPr lang="pt-BR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especializada em Portfolio Management, conectando governança, relatórios e tomada de decisão em uma única experiência.</a:t>
            </a:r>
            <a:endParaRPr lang="pt-BR" sz="1400" b="1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7A8D4A5E-4561-5976-8298-8D0DB85F3768}"/>
              </a:ext>
            </a:extLst>
          </p:cNvPr>
          <p:cNvSpPr/>
          <p:nvPr/>
        </p:nvSpPr>
        <p:spPr>
          <a:xfrm>
            <a:off x="975360" y="5569215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Stakeholder </a:t>
            </a:r>
          </a:p>
          <a:p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Claudia Meira / CDIO BPC Latam</a:t>
            </a:r>
            <a:endParaRPr lang="pt-BR" sz="1867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7E00CF8A-BF5A-C19C-2049-CEB1F43FA1E0}"/>
              </a:ext>
            </a:extLst>
          </p:cNvPr>
          <p:cNvSpPr/>
          <p:nvPr/>
        </p:nvSpPr>
        <p:spPr>
          <a:xfrm>
            <a:off x="2823411" y="6305463"/>
            <a:ext cx="715477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Time-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pt-BR" sz="1867" b="1" err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6 meses</a:t>
            </a:r>
            <a:endParaRPr lang="pt-BR" sz="1867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7C023D7-687F-AB33-E997-BD659508BA99}"/>
              </a:ext>
            </a:extLst>
          </p:cNvPr>
          <p:cNvSpPr/>
          <p:nvPr/>
        </p:nvSpPr>
        <p:spPr>
          <a:xfrm>
            <a:off x="6644639" y="2952201"/>
            <a:ext cx="4970417" cy="1092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fontAlgn="t">
              <a:lnSpc>
                <a:spcPts val="1500"/>
              </a:lnSpc>
              <a:buNone/>
            </a:pPr>
            <a:r>
              <a:rPr lang="pt-BR" sz="14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é </a:t>
            </a:r>
            <a:r>
              <a:rPr lang="pt-BR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pt-BR" sz="14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</a:t>
            </a:r>
            <a:r>
              <a:rPr lang="pt-BR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inteligente desenvolvido para se tornar o ponto único </a:t>
            </a:r>
            <a:r>
              <a:rPr lang="pt-BR" sz="14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pt-BR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interação entre as pessoas </a:t>
            </a:r>
            <a:r>
              <a:rPr lang="pt-BR" sz="14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</a:t>
            </a:r>
            <a:r>
              <a:rPr lang="pt-BR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informações da organização. Inclusive traz </a:t>
            </a:r>
            <a:r>
              <a:rPr lang="pt-BR" sz="14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</a:t>
            </a:r>
            <a:r>
              <a:rPr lang="pt-BR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automatizados com todas as informações do portfolio </a:t>
            </a:r>
            <a:r>
              <a:rPr lang="pt-BR" sz="14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</a:t>
            </a:r>
            <a:r>
              <a:rPr lang="pt-BR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área</a:t>
            </a:r>
            <a:r>
              <a:rPr lang="pt-BR" sz="14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fontAlgn="t">
              <a:lnSpc>
                <a:spcPts val="1500"/>
              </a:lnSpc>
              <a:buNone/>
            </a:pPr>
            <a:r>
              <a:rPr lang="pt-BR" sz="1200" i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r>
              <a:rPr lang="pt-BR" sz="12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t-BR" sz="1200" b="1" i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</a:t>
            </a:r>
            <a:r>
              <a:rPr lang="pt-BR" sz="1200" b="1" i="1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pt-BR" sz="1200" b="1" i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Studio</a:t>
            </a:r>
            <a:r>
              <a:rPr lang="pt-BR" sz="1200" i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Azure </a:t>
            </a:r>
            <a:r>
              <a:rPr lang="pt-BR" sz="1200" i="1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r>
              <a:rPr lang="pt-BR" sz="1200" i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Power BI, Teams e Power </a:t>
            </a:r>
            <a:r>
              <a:rPr lang="pt-BR" sz="1200" i="1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r>
              <a:rPr lang="pt-BR" sz="1200" i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pt-BR" sz="1200" i="1"/>
          </a:p>
        </p:txBody>
      </p:sp>
    </p:spTree>
    <p:extLst>
      <p:ext uri="{BB962C8B-B14F-4D97-AF65-F5344CB8AC3E}">
        <p14:creationId xmlns:p14="http://schemas.microsoft.com/office/powerpoint/2010/main" val="1213706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60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 1  |  MAKE </a:t>
            </a:r>
            <a:endParaRPr lang="pt-BR" sz="1600"/>
          </a:p>
        </p:txBody>
      </p:sp>
      <p:sp>
        <p:nvSpPr>
          <p:cNvPr id="3" name="Text 1"/>
          <p:cNvSpPr/>
          <p:nvPr/>
        </p:nvSpPr>
        <p:spPr>
          <a:xfrm>
            <a:off x="731520" y="85344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3733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Agente de IA para Diarização</a:t>
            </a:r>
            <a:endParaRPr lang="pt-BR" sz="3733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700" dirty="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Felipe </a:t>
            </a:r>
            <a:r>
              <a:rPr lang="pt-BR" sz="1700" dirty="0" err="1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Zompero</a:t>
            </a:r>
            <a:r>
              <a:rPr lang="pt-BR" sz="1700" dirty="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|  5 minutos</a:t>
            </a:r>
            <a:endParaRPr lang="pt-BR" sz="17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2438401"/>
            <a:ext cx="5303520" cy="3739643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6" name="Text 4"/>
          <p:cNvSpPr/>
          <p:nvPr/>
        </p:nvSpPr>
        <p:spPr>
          <a:xfrm>
            <a:off x="975360" y="2621280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DESAFIO</a:t>
            </a:r>
            <a:endParaRPr lang="pt-BR" sz="1867"/>
          </a:p>
        </p:txBody>
      </p:sp>
      <p:sp>
        <p:nvSpPr>
          <p:cNvPr id="7" name="Text 5"/>
          <p:cNvSpPr/>
          <p:nvPr/>
        </p:nvSpPr>
        <p:spPr>
          <a:xfrm>
            <a:off x="975360" y="3169921"/>
            <a:ext cx="4815840" cy="2271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44" indent="-285744">
              <a:buFont typeface="Wingdings" panose="05000000000000000000" pitchFamily="2" charset="2"/>
              <a:buChar char="§"/>
            </a:pPr>
            <a:r>
              <a:rPr lang="pt-BR" sz="16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Processo manual e demorado (½ dia).</a:t>
            </a:r>
          </a:p>
          <a:p>
            <a:pPr marL="285744" indent="-285744">
              <a:buFont typeface="Wingdings" panose="05000000000000000000" pitchFamily="2" charset="2"/>
              <a:buChar char="§"/>
            </a:pPr>
            <a:r>
              <a:rPr lang="pt-BR" sz="16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Dependência de conhecimento individual.</a:t>
            </a:r>
          </a:p>
          <a:p>
            <a:pPr marL="285744" indent="-285744">
              <a:buFont typeface="Wingdings" panose="05000000000000000000" pitchFamily="2" charset="2"/>
              <a:buChar char="§"/>
            </a:pPr>
            <a:r>
              <a:rPr lang="pt-BR" sz="16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Comparações manuais em Excel.</a:t>
            </a:r>
          </a:p>
          <a:p>
            <a:pPr marL="285744" indent="-285744">
              <a:buFont typeface="Wingdings" panose="05000000000000000000" pitchFamily="2" charset="2"/>
              <a:buChar char="§"/>
            </a:pPr>
            <a:r>
              <a:rPr lang="pt-BR" sz="16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Sujeito a erros e inconsistências.</a:t>
            </a:r>
          </a:p>
          <a:p>
            <a:pPr marL="285744" indent="-285744">
              <a:buFont typeface="Wingdings" panose="05000000000000000000" pitchFamily="2" charset="2"/>
              <a:buChar char="§"/>
            </a:pPr>
            <a:r>
              <a:rPr lang="pt-BR" sz="16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Comunicação não padronizada com a CEVA.</a:t>
            </a:r>
          </a:p>
          <a:p>
            <a:pPr marL="285744" indent="-285744">
              <a:buFont typeface="Wingdings" panose="05000000000000000000" pitchFamily="2" charset="2"/>
              <a:buChar char="§"/>
            </a:pPr>
            <a:r>
              <a:rPr lang="pt-BR" sz="16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Risco de falta de materiais para produção.</a:t>
            </a:r>
          </a:p>
          <a:p>
            <a:pPr marL="285744" indent="-285744">
              <a:buFont typeface="Wingdings" panose="05000000000000000000" pitchFamily="2" charset="2"/>
              <a:buChar char="§"/>
            </a:pPr>
            <a:r>
              <a:rPr lang="pt-BR" sz="16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Risco de parada de linha (shortage).</a:t>
            </a:r>
          </a:p>
          <a:p>
            <a:pPr marL="285744" indent="-285744">
              <a:buFont typeface="Wingdings" panose="05000000000000000000" pitchFamily="2" charset="2"/>
              <a:buChar char="§"/>
            </a:pPr>
            <a:r>
              <a:rPr lang="pt-BR" sz="16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Baixa visibilidade para decisões de movimentação logística.</a:t>
            </a:r>
          </a:p>
        </p:txBody>
      </p:sp>
      <p:sp>
        <p:nvSpPr>
          <p:cNvPr id="8" name="Shape 6"/>
          <p:cNvSpPr/>
          <p:nvPr/>
        </p:nvSpPr>
        <p:spPr>
          <a:xfrm>
            <a:off x="6400800" y="2438400"/>
            <a:ext cx="5303520" cy="1823760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9" name="Text 7"/>
          <p:cNvSpPr/>
          <p:nvPr/>
        </p:nvSpPr>
        <p:spPr>
          <a:xfrm>
            <a:off x="6644640" y="2621280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SOLUÇÃO &amp; TOOL</a:t>
            </a:r>
            <a:endParaRPr lang="pt-BR" sz="1867"/>
          </a:p>
        </p:txBody>
      </p:sp>
      <p:sp>
        <p:nvSpPr>
          <p:cNvPr id="10" name="Text 8"/>
          <p:cNvSpPr/>
          <p:nvPr/>
        </p:nvSpPr>
        <p:spPr>
          <a:xfrm>
            <a:off x="6644640" y="3106211"/>
            <a:ext cx="4815840" cy="90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44" indent="-285744">
              <a:buFont typeface="Wingdings" panose="05000000000000000000" pitchFamily="2" charset="2"/>
              <a:buChar char="§"/>
            </a:pP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analisa Planning + SAP WM.</a:t>
            </a:r>
          </a:p>
          <a:p>
            <a:pPr marL="285744" indent="-285744">
              <a:buFont typeface="Wingdings" panose="05000000000000000000" pitchFamily="2" charset="2"/>
              <a:buChar char="§"/>
            </a:pP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riscos e necessidades de movimentação.</a:t>
            </a:r>
          </a:p>
          <a:p>
            <a:pPr marL="285744" indent="-285744">
              <a:buFont typeface="Wingdings" panose="05000000000000000000" pitchFamily="2" charset="2"/>
              <a:buChar char="§"/>
            </a:pP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 ações para abastecimento da produção.</a:t>
            </a:r>
          </a:p>
          <a:p>
            <a:pPr marL="285744" indent="-285744">
              <a:buFont typeface="Wingdings" panose="05000000000000000000" pitchFamily="2" charset="2"/>
              <a:buChar char="§"/>
            </a:pP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M365 Copilot | SAP | SharePoint.</a:t>
            </a:r>
            <a:endParaRPr lang="pt-BR" sz="160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E2D156C6-E8C9-ACE7-0B80-C7398E328DBD}"/>
              </a:ext>
            </a:extLst>
          </p:cNvPr>
          <p:cNvSpPr/>
          <p:nvPr/>
        </p:nvSpPr>
        <p:spPr>
          <a:xfrm>
            <a:off x="6400800" y="4399663"/>
            <a:ext cx="5303520" cy="1778381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A44E3BBA-170E-4382-6901-49555B387CD7}"/>
              </a:ext>
            </a:extLst>
          </p:cNvPr>
          <p:cNvSpPr/>
          <p:nvPr/>
        </p:nvSpPr>
        <p:spPr>
          <a:xfrm>
            <a:off x="6644640" y="4582541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IMPACTO | Value Realization</a:t>
            </a:r>
            <a:endParaRPr lang="pt-BR" sz="1867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E32D289-860B-1667-75FB-3E4447CE1EB0}"/>
              </a:ext>
            </a:extLst>
          </p:cNvPr>
          <p:cNvSpPr/>
          <p:nvPr/>
        </p:nvSpPr>
        <p:spPr>
          <a:xfrm>
            <a:off x="6644640" y="5070222"/>
            <a:ext cx="4815840" cy="90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44" indent="-285744">
              <a:buFont typeface="Wingdings" panose="05000000000000000000" pitchFamily="2" charset="2"/>
              <a:buChar char="§"/>
            </a:pP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tempo de ½ dia para &lt; 1 hora ou menos.</a:t>
            </a:r>
          </a:p>
          <a:p>
            <a:pPr marL="285744" indent="-285744">
              <a:buFont typeface="Wingdings" panose="05000000000000000000" pitchFamily="2" charset="2"/>
              <a:buChar char="§"/>
            </a:pP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Produção: menor risco de shortage e parada de linha</a:t>
            </a:r>
            <a:r>
              <a:rPr lang="pt-BR" sz="1600"/>
              <a:t>.</a:t>
            </a:r>
            <a:endParaRPr lang="pt-BR" sz="160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44" indent="-285744">
              <a:buFont typeface="Wingdings" panose="05000000000000000000" pitchFamily="2" charset="2"/>
              <a:buChar char="§"/>
            </a:pP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Qualidade: análises mais precisas e consistentes.</a:t>
            </a:r>
          </a:p>
          <a:p>
            <a:pPr marL="285744" indent="-285744">
              <a:buFont typeface="Wingdings" panose="05000000000000000000" pitchFamily="2" charset="2"/>
              <a:buChar char="§"/>
            </a:pP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mais rápida e orientada por dados.</a:t>
            </a: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4FE530EE-63C2-5A03-AA29-BD4597CC1A0D}"/>
              </a:ext>
            </a:extLst>
          </p:cNvPr>
          <p:cNvSpPr/>
          <p:nvPr/>
        </p:nvSpPr>
        <p:spPr>
          <a:xfrm>
            <a:off x="975360" y="5569215"/>
            <a:ext cx="4815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67" b="1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Stakeholder </a:t>
            </a:r>
          </a:p>
          <a:p>
            <a:pPr marL="285744" indent="-285744">
              <a:buFont typeface="Wingdings" panose="05000000000000000000" pitchFamily="2" charset="2"/>
              <a:buChar char="§"/>
            </a:pPr>
            <a:r>
              <a:rPr lang="pt-BR" sz="16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Valinhos | Hugo Mariano | Catia Navarro</a:t>
            </a:r>
            <a:endParaRPr lang="pt-BR" sz="1867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2A75D679-5F72-36F5-E08B-CC3758092546}"/>
              </a:ext>
            </a:extLst>
          </p:cNvPr>
          <p:cNvSpPr/>
          <p:nvPr/>
        </p:nvSpPr>
        <p:spPr>
          <a:xfrm>
            <a:off x="2823412" y="6305463"/>
            <a:ext cx="715477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851" b="1">
                <a:solidFill>
                  <a:srgbClr val="00FF41"/>
                </a:solidFill>
                <a:latin typeface="Consolas"/>
                <a:ea typeface="Consolas" pitchFamily="34" charset="-122"/>
                <a:cs typeface="Consolas" pitchFamily="34" charset="-120"/>
              </a:rPr>
              <a:t>Time-to-value:</a:t>
            </a:r>
            <a:r>
              <a:rPr lang="pt-BR" sz="1851" b="1">
                <a:solidFill>
                  <a:srgbClr val="00FF41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sz="16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4  Semanas.</a:t>
            </a:r>
            <a:endParaRPr lang="pt-BR" sz="1867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9db4e91-bad5-4fd0-9ca4-c06485916e3a}" enabled="1" method="Standard" siteId="{f66fae02-5d36-495b-bfe0-78a6ff9f8e6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2305</Words>
  <Application>Microsoft Office PowerPoint</Application>
  <PresentationFormat>Widescreen</PresentationFormat>
  <Paragraphs>243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Consolas</vt:lpstr>
      <vt:lpstr>Segoe UI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Kuhnast, Nicolas</dc:creator>
  <cp:lastModifiedBy>Kuhnast, Nicolas</cp:lastModifiedBy>
  <cp:revision>3</cp:revision>
  <dcterms:created xsi:type="dcterms:W3CDTF">2026-07-07T23:49:31Z</dcterms:created>
  <dcterms:modified xsi:type="dcterms:W3CDTF">2026-07-15T19:17:14Z</dcterms:modified>
</cp:coreProperties>
</file>